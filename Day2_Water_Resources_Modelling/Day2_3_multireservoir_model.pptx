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79" r:id="rId5"/>
    <p:sldId id="269" r:id="rId6"/>
    <p:sldId id="280" r:id="rId7"/>
    <p:sldId id="281" r:id="rId8"/>
    <p:sldId id="282" r:id="rId9"/>
    <p:sldId id="283" r:id="rId10"/>
    <p:sldId id="290" r:id="rId11"/>
    <p:sldId id="284" r:id="rId12"/>
    <p:sldId id="285" r:id="rId13"/>
    <p:sldId id="286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CA1F60-9073-5AC4-70F1-1440186DDAD3}" name="Nathan Rickards" initials="NR" userId="S::natric@ceh.ac.uk::463c1745-ed1a-4550-babd-ffbdcb3dba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7AE2"/>
    <a:srgbClr val="D6EAE6"/>
    <a:srgbClr val="D7B7AA"/>
    <a:srgbClr val="DBF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1320D-CA4B-42E6-B826-E066802D6D3A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020BF-5317-4617-89E4-B47918B142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0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837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E8FB-239F-B1E6-1F9B-01EEB2284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8A425-A456-B93F-0A4A-03FD220CD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89FD7-9D13-926E-7010-12C52CF1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897-ABC3-9A86-24DF-87B58645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CB3A6-43E1-7EDC-3C1E-02541985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52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8161-B1AA-54EA-2B66-42F6C308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8D73D-8CAF-4B22-5254-DFECD0BB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FB3-B933-EC45-4D2D-4F6609B9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C32C7-72A1-2D5D-E674-2C327038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27FA-DFAA-72A0-FD8D-EF274552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7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0B7B-A9D2-7E15-EB8C-17AEDF05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3E349-A3DD-AC4C-2208-4F27990A2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07F1B-58AC-EAD5-C4E4-D3C0A2E0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B51A6-3E3B-1E53-537F-DE8A54CA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0CD81-104A-5CA1-AF95-0CAA09FF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94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03E6-8BB1-774F-918A-8EB0C326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C0B9-472C-7578-F9EA-AF19D30D0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704CD-5582-271F-6827-135E88CA4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1D34B-5C1C-9836-57EF-EB22EA60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2FE20-3077-152B-3E4E-E440A624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D63F5-F8CA-3A5F-620E-F9CE22A1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0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3BA9-8AC3-ABDD-3994-75AF889F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1C426-2005-A423-62C7-429263A6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B51A2-5F00-14F6-E036-83773D955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2A906-DA5C-E0B3-635F-DF0DD6E5D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7BC21-BD07-F242-A01D-998267C9C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5EB78-18EE-C10A-2FEC-D382DC6D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B5961A-EB57-E029-2ED1-6648E5F3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C0AF1-9099-6DBA-1557-04EBFDA6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11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326B-079C-C453-CBB0-7233228C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B194-6E8B-4DEC-BCC8-FD18AAB5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B1F90-35B5-34A8-2473-36C9D169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4E45D-0CF2-E15B-F767-666C59E1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882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71177-35C3-DD68-2E9A-E8493029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4B9A68-2F8A-963B-846C-D38C935A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FD988-58E4-D914-82E2-744D883B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3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467D-9A28-C06F-0177-E7BB540A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65253-F74E-F4CE-148D-88462AD5E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23ED4-A205-A906-0888-76C83F45B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F7C32-191B-5CF9-2A34-A8B3F9F8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266F2-B189-64A5-C31C-06842810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43DE7-4CB8-BFEE-CB93-A040CD43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26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E203-8958-4493-6503-B6886F2A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F3B82-0D91-26DF-EEA8-498F7689D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BF2B1-2DD9-D0C6-5F9E-AF4B3CF5A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F2EE9-53A6-1610-5247-814B3ED4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ECD60-6777-6515-EA16-C7E81522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A6B40-9AE8-8D40-553B-CB837C01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9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2F90-E641-705A-A7AA-E76D1973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B08CE-6488-EDF2-23EF-F9C7E81D2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C0B0-ABF8-B52A-146D-907581F9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7DEB9-E85B-4F55-A5AC-C4D93141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8E368-8E4D-25EB-42B0-C6D96396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57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4DAD58-7A62-5C69-201B-327BEC3E2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91391-797D-52E0-121C-5A1267ABD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B2127-8FE0-A63C-C12D-DD7C50F7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254BF-50FC-9FA2-C1EC-890C8AFE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2FC2-A558-7A28-3604-BF88B0C9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57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09EE1-B9E6-C9FA-7624-D7BD27A0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6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44EA-6CC7-CDAB-09E7-BE75F6EDF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24023"/>
            <a:ext cx="10515600" cy="3752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2EE43-430F-524F-605F-9E2B0C0FB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D34AC5-60C1-4DB6-BEC5-231E7DF56BDC}" type="datetimeFigureOut">
              <a:rPr lang="en-GB" smtClean="0"/>
              <a:pPr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957E0-98EA-E1D9-CF85-8FEFC150D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09936-152C-D59A-14AA-FAFEB01A7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2D622C-947B-4C46-AF7A-D3138CD19E8F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402B42-503D-CE41-A425-D6857A7F228F}"/>
              </a:ext>
            </a:extLst>
          </p:cNvPr>
          <p:cNvCxnSpPr/>
          <p:nvPr userDrawn="1"/>
        </p:nvCxnSpPr>
        <p:spPr>
          <a:xfrm>
            <a:off x="355121" y="733244"/>
            <a:ext cx="1143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81FC7D-129E-343F-961D-D5E39B4367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21" y="252963"/>
            <a:ext cx="1370888" cy="36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0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07BC-BD58-067D-357D-151745AD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etal bridge over water&#10;&#10;AI-generated content may be incorrect.">
            <a:extLst>
              <a:ext uri="{FF2B5EF4-FFF2-40B4-BE49-F238E27FC236}">
                <a16:creationId xmlns:a16="http://schemas.microsoft.com/office/drawing/2014/main" id="{5691E75A-B79A-8B8C-A038-87C9FFD92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" t="5606" r="197" b="5675"/>
          <a:stretch/>
        </p:blipFill>
        <p:spPr>
          <a:xfrm>
            <a:off x="-12526" y="0"/>
            <a:ext cx="12204525" cy="685272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E5A1C5-537E-D7D1-F212-2026C4203F86}"/>
              </a:ext>
            </a:extLst>
          </p:cNvPr>
          <p:cNvSpPr/>
          <p:nvPr/>
        </p:nvSpPr>
        <p:spPr>
          <a:xfrm>
            <a:off x="414068" y="3394500"/>
            <a:ext cx="9238891" cy="3152955"/>
          </a:xfrm>
          <a:prstGeom prst="roundRect">
            <a:avLst>
              <a:gd name="adj" fmla="val 572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2CFAD-53FA-2AC3-F176-F1873DD8222E}"/>
              </a:ext>
            </a:extLst>
          </p:cNvPr>
          <p:cNvSpPr txBox="1"/>
          <p:nvPr/>
        </p:nvSpPr>
        <p:spPr>
          <a:xfrm>
            <a:off x="948905" y="3689490"/>
            <a:ext cx="89146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vs multi-reservoir model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B63536-36A5-8B20-7029-3C5CF03EFD0D}"/>
              </a:ext>
            </a:extLst>
          </p:cNvPr>
          <p:cNvCxnSpPr>
            <a:cxnSpLocks/>
          </p:cNvCxnSpPr>
          <p:nvPr/>
        </p:nvCxnSpPr>
        <p:spPr>
          <a:xfrm>
            <a:off x="1112808" y="4684140"/>
            <a:ext cx="8031192" cy="267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28A1283-2884-1D85-C238-88EC65456D78}"/>
              </a:ext>
            </a:extLst>
          </p:cNvPr>
          <p:cNvSpPr txBox="1"/>
          <p:nvPr/>
        </p:nvSpPr>
        <p:spPr>
          <a:xfrm>
            <a:off x="1023667" y="4970264"/>
            <a:ext cx="528221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reservoir storage prediction</a:t>
            </a:r>
          </a:p>
          <a:p>
            <a:r>
              <a:rPr lang="en-GB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Helen Baron &amp; Nathan Rickards</a:t>
            </a:r>
          </a:p>
          <a:p>
            <a:r>
              <a:rPr lang="en-GB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28/01/2026</a:t>
            </a:r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AAF09D4-7568-5FF7-1146-48B29D3A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306" y="5493786"/>
            <a:ext cx="2791634" cy="966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2C0D60-3A17-743B-74D8-4DE8B21A1CF0}"/>
              </a:ext>
            </a:extLst>
          </p:cNvPr>
          <p:cNvSpPr txBox="1"/>
          <p:nvPr/>
        </p:nvSpPr>
        <p:spPr>
          <a:xfrm>
            <a:off x="5977373" y="0"/>
            <a:ext cx="61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b="0" i="0" dirty="0">
                <a:solidFill>
                  <a:schemeClr val="bg1"/>
                </a:solidFill>
                <a:effectLst/>
              </a:rPr>
              <a:t>Adomi Bridge - </a:t>
            </a:r>
            <a:r>
              <a:rPr lang="en-GB" sz="2000" b="0" i="0" dirty="0" err="1">
                <a:solidFill>
                  <a:schemeClr val="bg1"/>
                </a:solidFill>
                <a:effectLst/>
              </a:rPr>
              <a:t>Atimpoku</a:t>
            </a:r>
            <a:endParaRPr lang="en-GB" sz="2000" b="0" i="0" dirty="0">
              <a:solidFill>
                <a:schemeClr val="bg1"/>
              </a:solidFill>
              <a:effectLst/>
            </a:endParaRP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8DC596C6-628A-C2AF-1420-A9A9B8CAC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147" y="5467589"/>
            <a:ext cx="1727785" cy="10798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5DBB8FF6-D953-8801-F6DD-6F4006858A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5" b="6220"/>
          <a:stretch/>
        </p:blipFill>
        <p:spPr>
          <a:xfrm>
            <a:off x="6428679" y="4782738"/>
            <a:ext cx="2754000" cy="7104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7733189-7F34-0A22-E545-9FDF0BDD3AF7}"/>
              </a:ext>
            </a:extLst>
          </p:cNvPr>
          <p:cNvGrpSpPr/>
          <p:nvPr/>
        </p:nvGrpSpPr>
        <p:grpSpPr>
          <a:xfrm>
            <a:off x="9689610" y="4881384"/>
            <a:ext cx="2465737" cy="513160"/>
            <a:chOff x="9255523" y="6253128"/>
            <a:chExt cx="2939589" cy="613323"/>
          </a:xfrm>
        </p:grpSpPr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E3A7681E-084B-A13B-B03A-0EFE7D1BDA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55523" y="6253128"/>
            <a:ext cx="2780404" cy="613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crobat Document" r:id="rId6" imgW="3022552" imgH="666570" progId="Acrobat.Document.DC">
                    <p:embed/>
                  </p:oleObj>
                </mc:Choice>
                <mc:Fallback>
                  <p:oleObj name="Acrobat Document" r:id="rId6" imgW="3022552" imgH="666570" progId="Acrobat.Document.DC">
                    <p:embed/>
                    <p:pic>
                      <p:nvPicPr>
                        <p:cNvPr id="4" name="Object 3">
                          <a:extLst>
                            <a:ext uri="{FF2B5EF4-FFF2-40B4-BE49-F238E27FC236}">
                              <a16:creationId xmlns:a16="http://schemas.microsoft.com/office/drawing/2014/main" id="{E3A7681E-084B-A13B-B03A-0EFE7D1BDAE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9255523" y="6253128"/>
                          <a:ext cx="2780404" cy="6133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56C934C-8FE9-397E-3C32-EE53529D3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027115" y="6253129"/>
              <a:ext cx="167997" cy="6133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8373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8E60-1577-C85D-688E-FC30C0CC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BF0918-3E84-E37E-EC8A-8FE1EB05DF85}"/>
              </a:ext>
            </a:extLst>
          </p:cNvPr>
          <p:cNvSpPr txBox="1"/>
          <p:nvPr/>
        </p:nvSpPr>
        <p:spPr>
          <a:xfrm>
            <a:off x="396815" y="1086928"/>
            <a:ext cx="4019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&amp; why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F56F1A4-DACE-D56B-3476-BCE621C4B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5" y="1646183"/>
            <a:ext cx="3604409" cy="5211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Single reservoir model</a:t>
            </a:r>
            <a:r>
              <a:rPr lang="en-GB" sz="2000" dirty="0"/>
              <a:t> trained at one reservoir on timeseries data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Multi reservoir model </a:t>
            </a:r>
          </a:p>
          <a:p>
            <a:pPr marL="0" indent="0">
              <a:buNone/>
            </a:pPr>
            <a:r>
              <a:rPr lang="en-GB" sz="2000" dirty="0"/>
              <a:t>trained on multiple reservoirs, using timeseries data from all sites + static catchment/reservoir characteristics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CAD7D8-2789-460B-6810-AC8AB097E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345" y="741408"/>
            <a:ext cx="6765227" cy="14912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360B51-C61D-214B-AA41-B93A2F672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345" y="2286020"/>
            <a:ext cx="6765227" cy="1370173"/>
          </a:xfrm>
          <a:prstGeom prst="rect">
            <a:avLst/>
          </a:prstGeom>
        </p:spPr>
      </p:pic>
      <p:pic>
        <p:nvPicPr>
          <p:cNvPr id="4" name="Picture 3" descr="A map of thailand with blue dots&#10;&#10;AI-generated content may be incorrect.">
            <a:extLst>
              <a:ext uri="{FF2B5EF4-FFF2-40B4-BE49-F238E27FC236}">
                <a16:creationId xmlns:a16="http://schemas.microsoft.com/office/drawing/2014/main" id="{B7A8C61A-AB22-FCFF-A67C-F4001CA04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818" y="3770293"/>
            <a:ext cx="3360553" cy="3079239"/>
          </a:xfrm>
          <a:prstGeom prst="rect">
            <a:avLst/>
          </a:prstGeom>
        </p:spPr>
      </p:pic>
      <p:pic>
        <p:nvPicPr>
          <p:cNvPr id="5" name="Picture 4" descr="A map of the united kingdom&#10;&#10;AI-generated content may be incorrect.">
            <a:extLst>
              <a:ext uri="{FF2B5EF4-FFF2-40B4-BE49-F238E27FC236}">
                <a16:creationId xmlns:a16="http://schemas.microsoft.com/office/drawing/2014/main" id="{149C26DD-1DBC-21C6-128D-5591D75970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738" y="3773478"/>
            <a:ext cx="3137834" cy="3084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B5106C-29C7-D368-E76B-EFC06D92D4AA}"/>
              </a:ext>
            </a:extLst>
          </p:cNvPr>
          <p:cNvSpPr txBox="1"/>
          <p:nvPr/>
        </p:nvSpPr>
        <p:spPr>
          <a:xfrm>
            <a:off x="4882818" y="3503014"/>
            <a:ext cx="241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Thailand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5035E-BAB2-27A1-158B-A49091E9FC9D}"/>
              </a:ext>
            </a:extLst>
          </p:cNvPr>
          <p:cNvSpPr txBox="1"/>
          <p:nvPr/>
        </p:nvSpPr>
        <p:spPr>
          <a:xfrm>
            <a:off x="8614640" y="3501420"/>
            <a:ext cx="241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Europe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27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144D-805C-39F1-573D-EF675A33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08F2CC-5AA0-7FAB-8485-8F3A320BAFB6}"/>
              </a:ext>
            </a:extLst>
          </p:cNvPr>
          <p:cNvSpPr txBox="1"/>
          <p:nvPr/>
        </p:nvSpPr>
        <p:spPr>
          <a:xfrm>
            <a:off x="396815" y="1086928"/>
            <a:ext cx="4019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&amp; why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4BF3B4-FA5D-519C-F59F-39EEB8641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324"/>
            <a:ext cx="4639056" cy="4809364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dirty="0"/>
              <a:t>Monthly time-series</a:t>
            </a:r>
          </a:p>
          <a:p>
            <a:pPr marL="457200" lvl="1" indent="0" fontAlgn="base">
              <a:buNone/>
            </a:pPr>
            <a:r>
              <a:rPr lang="en-US" dirty="0"/>
              <a:t>Reservoir storage</a:t>
            </a:r>
          </a:p>
          <a:p>
            <a:pPr marL="457200" lvl="1" indent="0" fontAlgn="base">
              <a:buNone/>
            </a:pPr>
            <a:r>
              <a:rPr lang="en-US" dirty="0"/>
              <a:t>Rainfall</a:t>
            </a:r>
          </a:p>
          <a:p>
            <a:pPr marL="457200" lvl="1" indent="0" fontAlgn="base">
              <a:buNone/>
            </a:pPr>
            <a:r>
              <a:rPr lang="en-US" dirty="0"/>
              <a:t>Temperature</a:t>
            </a:r>
          </a:p>
          <a:p>
            <a:pPr fontAlgn="base"/>
            <a:r>
              <a:rPr lang="en-US" dirty="0"/>
              <a:t>Reservoir characteristics</a:t>
            </a:r>
          </a:p>
          <a:p>
            <a:pPr marL="457200" lvl="1" indent="0" fontAlgn="base">
              <a:buNone/>
            </a:pPr>
            <a:r>
              <a:rPr lang="en-US" dirty="0"/>
              <a:t>Total capacity</a:t>
            </a:r>
          </a:p>
          <a:p>
            <a:pPr marL="457200" lvl="1" indent="0" fontAlgn="base">
              <a:buNone/>
            </a:pPr>
            <a:r>
              <a:rPr lang="en-US" dirty="0"/>
              <a:t>Catchment area</a:t>
            </a:r>
          </a:p>
          <a:p>
            <a:pPr marL="457200" lvl="1" indent="0" fontAlgn="base">
              <a:buNone/>
            </a:pPr>
            <a:r>
              <a:rPr lang="en-US" dirty="0"/>
              <a:t>Purpose</a:t>
            </a:r>
          </a:p>
          <a:p>
            <a:pPr marL="457200" lvl="1" indent="0" fontAlgn="base">
              <a:buNone/>
            </a:pPr>
            <a:r>
              <a:rPr lang="en-US" dirty="0"/>
              <a:t>etc.</a:t>
            </a:r>
          </a:p>
          <a:p>
            <a:pPr fontAlgn="base"/>
            <a:r>
              <a:rPr lang="en-US" dirty="0"/>
              <a:t>Catchment characteristics</a:t>
            </a:r>
          </a:p>
          <a:p>
            <a:pPr marL="457200" lvl="1" indent="0" fontAlgn="base">
              <a:buNone/>
            </a:pPr>
            <a:r>
              <a:rPr lang="en-US" dirty="0"/>
              <a:t>Elevation</a:t>
            </a:r>
          </a:p>
          <a:p>
            <a:pPr marL="457200" lvl="1" indent="0" fontAlgn="base">
              <a:buNone/>
            </a:pPr>
            <a:r>
              <a:rPr lang="en-US" dirty="0"/>
              <a:t>Aridity</a:t>
            </a:r>
          </a:p>
          <a:p>
            <a:pPr marL="457200" lvl="1" indent="0" fontAlgn="base">
              <a:buNone/>
            </a:pPr>
            <a:r>
              <a:rPr lang="en-US" dirty="0"/>
              <a:t>Degree of regulation</a:t>
            </a:r>
          </a:p>
          <a:p>
            <a:pPr marL="457200" lvl="1" indent="0" fontAlgn="base">
              <a:buNone/>
            </a:pPr>
            <a:r>
              <a:rPr lang="en-US" dirty="0"/>
              <a:t>Landcover</a:t>
            </a:r>
          </a:p>
          <a:p>
            <a:pPr marL="457200" lvl="1" indent="0" fontAlgn="base">
              <a:buNone/>
            </a:pPr>
            <a:r>
              <a:rPr lang="en-US" dirty="0"/>
              <a:t>Irrigated area</a:t>
            </a:r>
          </a:p>
          <a:p>
            <a:pPr marL="457200" lvl="1" indent="0" fontAlgn="base">
              <a:buNone/>
            </a:pPr>
            <a:r>
              <a:rPr lang="en-US" dirty="0"/>
              <a:t>etc.</a:t>
            </a:r>
          </a:p>
          <a:p>
            <a:pPr marL="457200" lvl="1" indent="0" fontAlgn="base">
              <a:buNone/>
            </a:pPr>
            <a:endParaRPr lang="en-US" dirty="0"/>
          </a:p>
          <a:p>
            <a:pPr marL="457200" lvl="1" indent="0" fontAlgn="base">
              <a:buNone/>
            </a:pPr>
            <a:endParaRPr lang="en-US" dirty="0"/>
          </a:p>
          <a:p>
            <a:pPr fontAlgn="base"/>
            <a:endParaRPr lang="en-US" b="0" i="0" dirty="0"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D0B24-1CC3-F4AA-EDA7-15CD73CFBAC9}"/>
              </a:ext>
            </a:extLst>
          </p:cNvPr>
          <p:cNvSpPr/>
          <p:nvPr/>
        </p:nvSpPr>
        <p:spPr>
          <a:xfrm>
            <a:off x="838200" y="1838324"/>
            <a:ext cx="6080185" cy="1139086"/>
          </a:xfrm>
          <a:prstGeom prst="rect">
            <a:avLst/>
          </a:prstGeom>
          <a:noFill/>
          <a:ln w="38100" cap="flat" cmpd="sng" algn="ctr">
            <a:solidFill>
              <a:srgbClr val="0076B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>
              <a:solidFill>
                <a:srgbClr val="0070C0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>
              <a:solidFill>
                <a:srgbClr val="0070C0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Local Data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kern="0">
                <a:solidFill>
                  <a:srgbClr val="0070C0"/>
                </a:solidFill>
                <a:latin typeface="Arial"/>
              </a:rPr>
              <a:t>ERA5</a:t>
            </a: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>
              <a:solidFill>
                <a:srgbClr val="0070C0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>
              <a:solidFill>
                <a:srgbClr val="0070C0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>
              <a:solidFill>
                <a:srgbClr val="0070C0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>
              <a:solidFill>
                <a:srgbClr val="0070C0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C9468A-9C33-4855-B330-002B5286AD2F}"/>
              </a:ext>
            </a:extLst>
          </p:cNvPr>
          <p:cNvSpPr/>
          <p:nvPr/>
        </p:nvSpPr>
        <p:spPr>
          <a:xfrm>
            <a:off x="838200" y="3014852"/>
            <a:ext cx="6080185" cy="150228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GRanD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5A6579-51EA-F522-E88E-18B8D95DF516}"/>
              </a:ext>
            </a:extLst>
          </p:cNvPr>
          <p:cNvSpPr/>
          <p:nvPr/>
        </p:nvSpPr>
        <p:spPr>
          <a:xfrm>
            <a:off x="838200" y="4554578"/>
            <a:ext cx="6080185" cy="202910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kern="0" dirty="0">
                <a:solidFill>
                  <a:schemeClr val="accent2"/>
                </a:solidFill>
                <a:latin typeface="Arial"/>
              </a:rPr>
              <a:t>CARAVAN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kern="0" dirty="0">
                <a:solidFill>
                  <a:schemeClr val="accent2"/>
                </a:solidFill>
                <a:latin typeface="Arial"/>
              </a:rPr>
              <a:t>Hydro-Atlas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kern="0" dirty="0">
                <a:solidFill>
                  <a:schemeClr val="accent2"/>
                </a:solidFill>
                <a:latin typeface="Arial"/>
              </a:rPr>
              <a:t>ERA5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kern="0" dirty="0">
              <a:solidFill>
                <a:schemeClr val="accent6"/>
              </a:solidFill>
              <a:latin typeface="Arial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9DF2C5-B591-7E4C-CAB4-802FB808662F}"/>
              </a:ext>
            </a:extLst>
          </p:cNvPr>
          <p:cNvSpPr txBox="1"/>
          <p:nvPr/>
        </p:nvSpPr>
        <p:spPr>
          <a:xfrm>
            <a:off x="7386127" y="2064824"/>
            <a:ext cx="1367347" cy="101566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Single-reservoir 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7B3821-C78C-E837-2FC1-F05B99DE6920}"/>
              </a:ext>
            </a:extLst>
          </p:cNvPr>
          <p:cNvSpPr txBox="1"/>
          <p:nvPr/>
        </p:nvSpPr>
        <p:spPr>
          <a:xfrm>
            <a:off x="9664246" y="3919191"/>
            <a:ext cx="1820718" cy="70788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Multi-reservoir model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7B839198-791F-853C-EF93-F84B9B851A89}"/>
              </a:ext>
            </a:extLst>
          </p:cNvPr>
          <p:cNvSpPr/>
          <p:nvPr/>
        </p:nvSpPr>
        <p:spPr>
          <a:xfrm>
            <a:off x="7016880" y="1940415"/>
            <a:ext cx="369247" cy="850356"/>
          </a:xfrm>
          <a:prstGeom prst="rightBrace">
            <a:avLst>
              <a:gd name="adj1" fmla="val 8333"/>
              <a:gd name="adj2" fmla="val 46774"/>
            </a:avLst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A645E478-25F9-B17A-D34F-6F721E63C28C}"/>
              </a:ext>
            </a:extLst>
          </p:cNvPr>
          <p:cNvSpPr/>
          <p:nvPr/>
        </p:nvSpPr>
        <p:spPr>
          <a:xfrm>
            <a:off x="9294998" y="1940415"/>
            <a:ext cx="369247" cy="4643265"/>
          </a:xfrm>
          <a:prstGeom prst="rightBrace">
            <a:avLst>
              <a:gd name="adj1" fmla="val 8333"/>
              <a:gd name="adj2" fmla="val 46774"/>
            </a:avLst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5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990AA-497F-16D1-C8C4-665DE1E2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E3B959-CB6F-6F5D-C9C8-40D071EF7CEA}"/>
              </a:ext>
            </a:extLst>
          </p:cNvPr>
          <p:cNvSpPr txBox="1"/>
          <p:nvPr/>
        </p:nvSpPr>
        <p:spPr>
          <a:xfrm>
            <a:off x="396815" y="1086928"/>
            <a:ext cx="4019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- Thailand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2DA9DA-5844-6FC6-C15B-0E1D639B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15" y="1455662"/>
            <a:ext cx="2708569" cy="5402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3B9C67-A3BF-1CC2-56ED-3DEB01655477}"/>
              </a:ext>
            </a:extLst>
          </p:cNvPr>
          <p:cNvSpPr txBox="1"/>
          <p:nvPr/>
        </p:nvSpPr>
        <p:spPr>
          <a:xfrm>
            <a:off x="3105384" y="4801576"/>
            <a:ext cx="20116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R^2 score for 1 month ahead storage simulations for the different models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4A1B02-7388-FD48-2248-B006E332FFCF}"/>
              </a:ext>
            </a:extLst>
          </p:cNvPr>
          <p:cNvGrpSpPr/>
          <p:nvPr/>
        </p:nvGrpSpPr>
        <p:grpSpPr>
          <a:xfrm>
            <a:off x="5491617" y="923624"/>
            <a:ext cx="6838685" cy="5705533"/>
            <a:chOff x="5819421" y="1212789"/>
            <a:chExt cx="6838685" cy="5705533"/>
          </a:xfrm>
        </p:grpSpPr>
        <p:pic>
          <p:nvPicPr>
            <p:cNvPr id="11" name="Picture 10" descr="A graph of a graph showing the number of the year&#10;&#10;AI-generated content may be incorrect.">
              <a:extLst>
                <a:ext uri="{FF2B5EF4-FFF2-40B4-BE49-F238E27FC236}">
                  <a16:creationId xmlns:a16="http://schemas.microsoft.com/office/drawing/2014/main" id="{C7A8F27C-49E6-3093-215C-6288291F2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9421" y="4954758"/>
              <a:ext cx="6385714" cy="1240236"/>
            </a:xfrm>
            <a:prstGeom prst="rect">
              <a:avLst/>
            </a:prstGeom>
          </p:spPr>
        </p:pic>
        <p:pic>
          <p:nvPicPr>
            <p:cNvPr id="12" name="Picture 11" descr="A graph of a graph showing the number of the same graph&#10;&#10;AI-generated content may be incorrect.">
              <a:extLst>
                <a:ext uri="{FF2B5EF4-FFF2-40B4-BE49-F238E27FC236}">
                  <a16:creationId xmlns:a16="http://schemas.microsoft.com/office/drawing/2014/main" id="{831D0031-C0C4-6D05-9F28-77A8FE5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9421" y="3517770"/>
              <a:ext cx="6359413" cy="1240236"/>
            </a:xfrm>
            <a:prstGeom prst="rect">
              <a:avLst/>
            </a:prstGeom>
          </p:spPr>
        </p:pic>
        <p:pic>
          <p:nvPicPr>
            <p:cNvPr id="13" name="Picture 12" descr="A graph of a graph&#10;&#10;AI-generated content may be incorrect.">
              <a:extLst>
                <a:ext uri="{FF2B5EF4-FFF2-40B4-BE49-F238E27FC236}">
                  <a16:creationId xmlns:a16="http://schemas.microsoft.com/office/drawing/2014/main" id="{D4617E8A-5533-D106-3B5F-6E2C4D3BE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5" t="57107" r="86342" b="16105"/>
            <a:stretch/>
          </p:blipFill>
          <p:spPr>
            <a:xfrm>
              <a:off x="5981740" y="6224469"/>
              <a:ext cx="1114664" cy="56102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BD6B9C-7458-0FEA-B7A1-A58EF4CA7F50}"/>
                </a:ext>
              </a:extLst>
            </p:cNvPr>
            <p:cNvSpPr txBox="1"/>
            <p:nvPr/>
          </p:nvSpPr>
          <p:spPr>
            <a:xfrm>
              <a:off x="6935881" y="1212789"/>
              <a:ext cx="526925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Comparing the single, regional and global models at 1 month ahead simulations</a:t>
              </a:r>
            </a:p>
          </p:txBody>
        </p:sp>
        <p:pic>
          <p:nvPicPr>
            <p:cNvPr id="15" name="Picture 14" descr="A graph showing the number of data&#10;&#10;AI-generated content may be incorrect.">
              <a:extLst>
                <a:ext uri="{FF2B5EF4-FFF2-40B4-BE49-F238E27FC236}">
                  <a16:creationId xmlns:a16="http://schemas.microsoft.com/office/drawing/2014/main" id="{8F91D5B7-155D-3BFF-8A1D-75B5E4350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79" t="4628" r="82627" b="71674"/>
            <a:stretch/>
          </p:blipFill>
          <p:spPr>
            <a:xfrm>
              <a:off x="5981740" y="6222397"/>
              <a:ext cx="1352550" cy="563097"/>
            </a:xfrm>
            <a:prstGeom prst="rect">
              <a:avLst/>
            </a:prstGeom>
          </p:spPr>
        </p:pic>
        <p:pic>
          <p:nvPicPr>
            <p:cNvPr id="16" name="Picture 15" descr="A graph showing the number of data&#10;&#10;AI-generated content may be incorrect.">
              <a:extLst>
                <a:ext uri="{FF2B5EF4-FFF2-40B4-BE49-F238E27FC236}">
                  <a16:creationId xmlns:a16="http://schemas.microsoft.com/office/drawing/2014/main" id="{5BFC4FA3-9C07-5006-0419-7825AD608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79" t="34108" r="82627" b="61723"/>
            <a:stretch/>
          </p:blipFill>
          <p:spPr>
            <a:xfrm>
              <a:off x="5981740" y="6760027"/>
              <a:ext cx="1352550" cy="99060"/>
            </a:xfrm>
            <a:prstGeom prst="rect">
              <a:avLst/>
            </a:prstGeom>
          </p:spPr>
        </p:pic>
        <p:pic>
          <p:nvPicPr>
            <p:cNvPr id="17" name="Picture 16" descr="A graph showing the number of data&#10;&#10;AI-generated content may be incorrect.">
              <a:extLst>
                <a:ext uri="{FF2B5EF4-FFF2-40B4-BE49-F238E27FC236}">
                  <a16:creationId xmlns:a16="http://schemas.microsoft.com/office/drawing/2014/main" id="{244957A0-7E92-61D4-D36D-45D3FEEC7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79" t="4628" r="82627" b="62902"/>
            <a:stretch/>
          </p:blipFill>
          <p:spPr>
            <a:xfrm>
              <a:off x="5981740" y="6146797"/>
              <a:ext cx="1352550" cy="771525"/>
            </a:xfrm>
            <a:prstGeom prst="rect">
              <a:avLst/>
            </a:prstGeom>
          </p:spPr>
        </p:pic>
        <p:pic>
          <p:nvPicPr>
            <p:cNvPr id="18" name="Picture 17" descr="A line graph with colorful lines&#10;&#10;AI-generated content may be incorrect.">
              <a:extLst>
                <a:ext uri="{FF2B5EF4-FFF2-40B4-BE49-F238E27FC236}">
                  <a16:creationId xmlns:a16="http://schemas.microsoft.com/office/drawing/2014/main" id="{5BE67A00-7B6C-B973-154A-4FD773862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9421" y="2117427"/>
              <a:ext cx="6359413" cy="123856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7DACEA4-A444-A153-49E2-0017823E3702}"/>
                </a:ext>
              </a:extLst>
            </p:cNvPr>
            <p:cNvSpPr txBox="1"/>
            <p:nvPr/>
          </p:nvSpPr>
          <p:spPr>
            <a:xfrm>
              <a:off x="8538353" y="1903939"/>
              <a:ext cx="41197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R^2 at CLB          S: 0.87    R: 0.92    G: 0.92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2D34CE-A4C1-8560-A169-8B8DD3B82D6A}"/>
                </a:ext>
              </a:extLst>
            </p:cNvPr>
            <p:cNvSpPr txBox="1"/>
            <p:nvPr/>
          </p:nvSpPr>
          <p:spPr>
            <a:xfrm>
              <a:off x="8538354" y="3284104"/>
              <a:ext cx="4119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R^2 at LPP          S: 0.74    R: 0.95    G: 0.95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F5B02E-B89A-F7E7-AFD9-F0B8BC84F8A4}"/>
                </a:ext>
              </a:extLst>
            </p:cNvPr>
            <p:cNvSpPr txBox="1"/>
            <p:nvPr/>
          </p:nvSpPr>
          <p:spPr>
            <a:xfrm>
              <a:off x="8538353" y="4732781"/>
              <a:ext cx="4119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R^2 at RCP          S: 0.69    R: 0.64    G: 0.59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029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0477-8AB4-0CB9-B371-F8D6B473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3F7F32-4D7C-B51E-43DD-261FD0B4AA58}"/>
              </a:ext>
            </a:extLst>
          </p:cNvPr>
          <p:cNvSpPr txBox="1"/>
          <p:nvPr/>
        </p:nvSpPr>
        <p:spPr>
          <a:xfrm>
            <a:off x="396815" y="1086928"/>
            <a:ext cx="4019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- Thailand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90FBCB-690D-65A5-852A-246F5B1D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15" y="1455662"/>
            <a:ext cx="2708569" cy="5402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F7D7DF-8134-BC3C-FFD5-9933628587E5}"/>
              </a:ext>
            </a:extLst>
          </p:cNvPr>
          <p:cNvSpPr txBox="1"/>
          <p:nvPr/>
        </p:nvSpPr>
        <p:spPr>
          <a:xfrm>
            <a:off x="3105384" y="4801576"/>
            <a:ext cx="20116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R^2 score for 1 month ahead storage simulations for the different models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B18C6F4-ED87-FEAD-91D5-52AB78A83C31}"/>
              </a:ext>
            </a:extLst>
          </p:cNvPr>
          <p:cNvGrpSpPr/>
          <p:nvPr/>
        </p:nvGrpSpPr>
        <p:grpSpPr>
          <a:xfrm>
            <a:off x="5491617" y="923624"/>
            <a:ext cx="6838685" cy="5705533"/>
            <a:chOff x="5819421" y="1212789"/>
            <a:chExt cx="6838685" cy="5705533"/>
          </a:xfrm>
        </p:grpSpPr>
        <p:pic>
          <p:nvPicPr>
            <p:cNvPr id="11" name="Picture 10" descr="A graph of a graph showing the number of the year&#10;&#10;AI-generated content may be incorrect.">
              <a:extLst>
                <a:ext uri="{FF2B5EF4-FFF2-40B4-BE49-F238E27FC236}">
                  <a16:creationId xmlns:a16="http://schemas.microsoft.com/office/drawing/2014/main" id="{518AF40B-0307-93FC-E517-5B51F7C6C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9421" y="4954758"/>
              <a:ext cx="6385714" cy="1240236"/>
            </a:xfrm>
            <a:prstGeom prst="rect">
              <a:avLst/>
            </a:prstGeom>
          </p:spPr>
        </p:pic>
        <p:pic>
          <p:nvPicPr>
            <p:cNvPr id="12" name="Picture 11" descr="A graph of a graph showing the number of the same graph&#10;&#10;AI-generated content may be incorrect.">
              <a:extLst>
                <a:ext uri="{FF2B5EF4-FFF2-40B4-BE49-F238E27FC236}">
                  <a16:creationId xmlns:a16="http://schemas.microsoft.com/office/drawing/2014/main" id="{DD87BDF4-2E8A-7168-0606-A64D2C6C5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9421" y="3517770"/>
              <a:ext cx="6359413" cy="1240236"/>
            </a:xfrm>
            <a:prstGeom prst="rect">
              <a:avLst/>
            </a:prstGeom>
          </p:spPr>
        </p:pic>
        <p:pic>
          <p:nvPicPr>
            <p:cNvPr id="13" name="Picture 12" descr="A graph of a graph&#10;&#10;AI-generated content may be incorrect.">
              <a:extLst>
                <a:ext uri="{FF2B5EF4-FFF2-40B4-BE49-F238E27FC236}">
                  <a16:creationId xmlns:a16="http://schemas.microsoft.com/office/drawing/2014/main" id="{7555D90E-0785-06D2-4C2E-0EFB66623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5" t="57107" r="86342" b="16105"/>
            <a:stretch/>
          </p:blipFill>
          <p:spPr>
            <a:xfrm>
              <a:off x="5981740" y="6224469"/>
              <a:ext cx="1114664" cy="56102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6F1E0D-D771-A730-3413-1100869573FA}"/>
                </a:ext>
              </a:extLst>
            </p:cNvPr>
            <p:cNvSpPr txBox="1"/>
            <p:nvPr/>
          </p:nvSpPr>
          <p:spPr>
            <a:xfrm>
              <a:off x="6935881" y="1212789"/>
              <a:ext cx="526925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Comparing the single, regional and global models at 1 month ahead simulations</a:t>
              </a:r>
            </a:p>
          </p:txBody>
        </p:sp>
        <p:pic>
          <p:nvPicPr>
            <p:cNvPr id="15" name="Picture 14" descr="A graph showing the number of data&#10;&#10;AI-generated content may be incorrect.">
              <a:extLst>
                <a:ext uri="{FF2B5EF4-FFF2-40B4-BE49-F238E27FC236}">
                  <a16:creationId xmlns:a16="http://schemas.microsoft.com/office/drawing/2014/main" id="{FBD6E63E-6B33-300B-345D-250C9F14F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79" t="4628" r="82627" b="71674"/>
            <a:stretch/>
          </p:blipFill>
          <p:spPr>
            <a:xfrm>
              <a:off x="5981740" y="6222397"/>
              <a:ext cx="1352550" cy="563097"/>
            </a:xfrm>
            <a:prstGeom prst="rect">
              <a:avLst/>
            </a:prstGeom>
          </p:spPr>
        </p:pic>
        <p:pic>
          <p:nvPicPr>
            <p:cNvPr id="16" name="Picture 15" descr="A graph showing the number of data&#10;&#10;AI-generated content may be incorrect.">
              <a:extLst>
                <a:ext uri="{FF2B5EF4-FFF2-40B4-BE49-F238E27FC236}">
                  <a16:creationId xmlns:a16="http://schemas.microsoft.com/office/drawing/2014/main" id="{A9289AAB-944F-2449-3C49-B6F5ED0D7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79" t="34108" r="82627" b="61723"/>
            <a:stretch/>
          </p:blipFill>
          <p:spPr>
            <a:xfrm>
              <a:off x="5981740" y="6760027"/>
              <a:ext cx="1352550" cy="99060"/>
            </a:xfrm>
            <a:prstGeom prst="rect">
              <a:avLst/>
            </a:prstGeom>
          </p:spPr>
        </p:pic>
        <p:pic>
          <p:nvPicPr>
            <p:cNvPr id="17" name="Picture 16" descr="A graph showing the number of data&#10;&#10;AI-generated content may be incorrect.">
              <a:extLst>
                <a:ext uri="{FF2B5EF4-FFF2-40B4-BE49-F238E27FC236}">
                  <a16:creationId xmlns:a16="http://schemas.microsoft.com/office/drawing/2014/main" id="{439E7033-ED2D-D9D5-7C1A-5E6F97A69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79" t="4628" r="82627" b="62902"/>
            <a:stretch/>
          </p:blipFill>
          <p:spPr>
            <a:xfrm>
              <a:off x="5981740" y="6146797"/>
              <a:ext cx="1352550" cy="771525"/>
            </a:xfrm>
            <a:prstGeom prst="rect">
              <a:avLst/>
            </a:prstGeom>
          </p:spPr>
        </p:pic>
        <p:pic>
          <p:nvPicPr>
            <p:cNvPr id="18" name="Picture 17" descr="A line graph with colorful lines&#10;&#10;AI-generated content may be incorrect.">
              <a:extLst>
                <a:ext uri="{FF2B5EF4-FFF2-40B4-BE49-F238E27FC236}">
                  <a16:creationId xmlns:a16="http://schemas.microsoft.com/office/drawing/2014/main" id="{7C95EE92-CC82-DAD9-14FB-9CBEE27E1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9421" y="2117427"/>
              <a:ext cx="6359413" cy="123856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E6D1C33-62B1-8653-3584-3B2725A40413}"/>
                </a:ext>
              </a:extLst>
            </p:cNvPr>
            <p:cNvSpPr txBox="1"/>
            <p:nvPr/>
          </p:nvSpPr>
          <p:spPr>
            <a:xfrm>
              <a:off x="8538353" y="1903939"/>
              <a:ext cx="41197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R^2 at CLB          S: 0.87    R: 0.92    G: 0.92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B73EE5-115B-DA81-23B1-22261F826BF6}"/>
                </a:ext>
              </a:extLst>
            </p:cNvPr>
            <p:cNvSpPr txBox="1"/>
            <p:nvPr/>
          </p:nvSpPr>
          <p:spPr>
            <a:xfrm>
              <a:off x="8538354" y="3284104"/>
              <a:ext cx="4119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R^2 at LPP          S: 0.74    R: 0.95    G: 0.95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FB3D50-A2A3-0738-6404-05B980FA8226}"/>
                </a:ext>
              </a:extLst>
            </p:cNvPr>
            <p:cNvSpPr txBox="1"/>
            <p:nvPr/>
          </p:nvSpPr>
          <p:spPr>
            <a:xfrm>
              <a:off x="8538353" y="4732781"/>
              <a:ext cx="4119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R^2 at RCP          S: 0.69    R: 0.64    G: 0.59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63ECC6C8-6D33-6475-F20A-807A856975A3}"/>
              </a:ext>
            </a:extLst>
          </p:cNvPr>
          <p:cNvSpPr/>
          <p:nvPr/>
        </p:nvSpPr>
        <p:spPr>
          <a:xfrm>
            <a:off x="9105741" y="2160074"/>
            <a:ext cx="746160" cy="93724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FB0654-8978-F326-BD80-D22B0D8D7845}"/>
              </a:ext>
            </a:extLst>
          </p:cNvPr>
          <p:cNvSpPr/>
          <p:nvPr/>
        </p:nvSpPr>
        <p:spPr>
          <a:xfrm>
            <a:off x="8074620" y="3117438"/>
            <a:ext cx="2374146" cy="93724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BF8B9A-665B-54C0-E8C6-5CDBF37C92C6}"/>
              </a:ext>
            </a:extLst>
          </p:cNvPr>
          <p:cNvSpPr/>
          <p:nvPr/>
        </p:nvSpPr>
        <p:spPr>
          <a:xfrm>
            <a:off x="8276265" y="4945348"/>
            <a:ext cx="789754" cy="99097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519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1A62-EE65-2C13-ABA4-65D5F5D55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B34529-1A62-0849-A432-15D4B0548B4C}"/>
              </a:ext>
            </a:extLst>
          </p:cNvPr>
          <p:cNvSpPr txBox="1"/>
          <p:nvPr/>
        </p:nvSpPr>
        <p:spPr>
          <a:xfrm>
            <a:off x="396815" y="1086928"/>
            <a:ext cx="4019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- UK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map of the united kingdom&#10;&#10;AI-generated content may be incorrect.">
            <a:extLst>
              <a:ext uri="{FF2B5EF4-FFF2-40B4-BE49-F238E27FC236}">
                <a16:creationId xmlns:a16="http://schemas.microsoft.com/office/drawing/2014/main" id="{D1E22342-AD53-893F-FCEF-5F70454CA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71" y="1795975"/>
            <a:ext cx="5149516" cy="506202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DD949C-E3D8-33B6-C432-C000DE452B52}"/>
              </a:ext>
            </a:extLst>
          </p:cNvPr>
          <p:cNvGraphicFramePr>
            <a:graphicFrameLocks noGrp="1"/>
          </p:cNvGraphicFramePr>
          <p:nvPr/>
        </p:nvGraphicFramePr>
        <p:xfrm>
          <a:off x="5958024" y="1753113"/>
          <a:ext cx="5537693" cy="5725736"/>
        </p:xfrm>
        <a:graphic>
          <a:graphicData uri="http://schemas.openxmlformats.org/drawingml/2006/table">
            <a:tbl>
              <a:tblPr firstRow="1" firstCol="1" bandRow="1"/>
              <a:tblGrid>
                <a:gridCol w="5537693">
                  <a:extLst>
                    <a:ext uri="{9D8B030D-6E8A-4147-A177-3AD203B41FA5}">
                      <a16:colId xmlns:a16="http://schemas.microsoft.com/office/drawing/2014/main" val="996367500"/>
                    </a:ext>
                  </a:extLst>
                </a:gridCol>
              </a:tblGrid>
              <a:tr h="715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Ardingly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 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221939"/>
                  </a:ext>
                </a:extLst>
              </a:tr>
              <a:tr h="715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973607"/>
                  </a:ext>
                </a:extLst>
              </a:tr>
              <a:tr h="715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Wimbleball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171011"/>
                  </a:ext>
                </a:extLst>
              </a:tr>
              <a:tr h="715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920278"/>
                  </a:ext>
                </a:extLst>
              </a:tr>
              <a:tr h="715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Rutland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821559"/>
                  </a:ext>
                </a:extLst>
              </a:tr>
              <a:tr h="715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366032"/>
                  </a:ext>
                </a:extLst>
              </a:tr>
              <a:tr h="715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513026"/>
                  </a:ext>
                </a:extLst>
              </a:tr>
              <a:tr h="715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831282"/>
                  </a:ext>
                </a:extLst>
              </a:tr>
            </a:tbl>
          </a:graphicData>
        </a:graphic>
      </p:graphicFrame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583E0EBD-116E-5E43-4B3D-BFC831979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945" y="2084888"/>
            <a:ext cx="6164055" cy="1058856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DFABDED8-2BA9-A282-7020-E8ABCC62C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816" y="3540785"/>
            <a:ext cx="6289184" cy="1058913"/>
          </a:xfrm>
          <a:prstGeom prst="rect">
            <a:avLst/>
          </a:prstGeom>
        </p:spPr>
      </p:pic>
      <p:pic>
        <p:nvPicPr>
          <p:cNvPr id="8" name="Picture 7" descr="A graph showing the growth of a number of years&#10;&#10;AI-generated content may be incorrect.">
            <a:extLst>
              <a:ext uri="{FF2B5EF4-FFF2-40B4-BE49-F238E27FC236}">
                <a16:creationId xmlns:a16="http://schemas.microsoft.com/office/drawing/2014/main" id="{0E09C8BC-14A8-39E5-EDF8-2FDF6D6349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506" y="4990453"/>
            <a:ext cx="6266494" cy="1058913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18BB894A-2C4D-EE7F-D657-6B21007D8C1B}"/>
              </a:ext>
            </a:extLst>
          </p:cNvPr>
          <p:cNvSpPr/>
          <p:nvPr/>
        </p:nvSpPr>
        <p:spPr>
          <a:xfrm>
            <a:off x="10872643" y="1934716"/>
            <a:ext cx="1191988" cy="427104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 descr="A graph of a graph&#10;&#10;AI-generated content may be incorrect.">
            <a:extLst>
              <a:ext uri="{FF2B5EF4-FFF2-40B4-BE49-F238E27FC236}">
                <a16:creationId xmlns:a16="http://schemas.microsoft.com/office/drawing/2014/main" id="{932E78E2-EB5B-77E3-AEBD-986B69E647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5" t="57107" r="86342" b="16105"/>
          <a:stretch/>
        </p:blipFill>
        <p:spPr>
          <a:xfrm>
            <a:off x="5994905" y="6132933"/>
            <a:ext cx="1114664" cy="56102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528E882-0385-78F4-D025-F9A8D02398C2}"/>
              </a:ext>
            </a:extLst>
          </p:cNvPr>
          <p:cNvSpPr txBox="1"/>
          <p:nvPr/>
        </p:nvSpPr>
        <p:spPr>
          <a:xfrm>
            <a:off x="6982200" y="979961"/>
            <a:ext cx="50824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Comparing the local models to the regional model at 1 month ahead simulations</a:t>
            </a:r>
          </a:p>
        </p:txBody>
      </p:sp>
      <p:pic>
        <p:nvPicPr>
          <p:cNvPr id="26" name="Picture 25" descr="A graph showing the number of data&#10;&#10;AI-generated content may be incorrect.">
            <a:extLst>
              <a:ext uri="{FF2B5EF4-FFF2-40B4-BE49-F238E27FC236}">
                <a16:creationId xmlns:a16="http://schemas.microsoft.com/office/drawing/2014/main" id="{5D2C283E-56F7-1D7D-88EA-CDEA99F1CE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" t="4628" r="82627" b="71674"/>
          <a:stretch/>
        </p:blipFill>
        <p:spPr>
          <a:xfrm>
            <a:off x="5994905" y="6130861"/>
            <a:ext cx="1352550" cy="563097"/>
          </a:xfrm>
          <a:prstGeom prst="rect">
            <a:avLst/>
          </a:prstGeom>
        </p:spPr>
      </p:pic>
      <p:pic>
        <p:nvPicPr>
          <p:cNvPr id="27" name="Picture 26" descr="A graph showing the number of data&#10;&#10;AI-generated content may be incorrect.">
            <a:extLst>
              <a:ext uri="{FF2B5EF4-FFF2-40B4-BE49-F238E27FC236}">
                <a16:creationId xmlns:a16="http://schemas.microsoft.com/office/drawing/2014/main" id="{D0345CDB-E765-286A-0923-E935FD8D9D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" t="34108" r="82627" b="61723"/>
          <a:stretch/>
        </p:blipFill>
        <p:spPr>
          <a:xfrm>
            <a:off x="5994905" y="6668491"/>
            <a:ext cx="1352550" cy="9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19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D14E-C93C-F076-8A32-6C242945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CA650A-223B-4738-052B-1785A113E987}"/>
              </a:ext>
            </a:extLst>
          </p:cNvPr>
          <p:cNvSpPr txBox="1"/>
          <p:nvPr/>
        </p:nvSpPr>
        <p:spPr>
          <a:xfrm>
            <a:off x="396814" y="1086928"/>
            <a:ext cx="5699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application to the Akosombo dam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45D241-B6B1-B718-2A94-C54F344C9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231326"/>
              </p:ext>
            </p:extLst>
          </p:nvPr>
        </p:nvGraphicFramePr>
        <p:xfrm>
          <a:off x="8784771" y="4329356"/>
          <a:ext cx="3018834" cy="1593254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509417">
                  <a:extLst>
                    <a:ext uri="{9D8B030D-6E8A-4147-A177-3AD203B41FA5}">
                      <a16:colId xmlns:a16="http://schemas.microsoft.com/office/drawing/2014/main" val="1458186104"/>
                    </a:ext>
                  </a:extLst>
                </a:gridCol>
                <a:gridCol w="1509417">
                  <a:extLst>
                    <a:ext uri="{9D8B030D-6E8A-4147-A177-3AD203B41FA5}">
                      <a16:colId xmlns:a16="http://schemas.microsoft.com/office/drawing/2014/main" val="364377407"/>
                    </a:ext>
                  </a:extLst>
                </a:gridCol>
              </a:tblGrid>
              <a:tr h="435137">
                <a:tc>
                  <a:txBody>
                    <a:bodyPr/>
                    <a:lstStyle/>
                    <a:p>
                      <a:r>
                        <a:rPr lang="en-GB" dirty="0"/>
                        <a:t>MAE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4.4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267655"/>
                  </a:ext>
                </a:extLst>
              </a:tr>
              <a:tr h="417888">
                <a:tc>
                  <a:txBody>
                    <a:bodyPr/>
                    <a:lstStyle/>
                    <a:p>
                      <a:r>
                        <a:rPr lang="en-GB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5.3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74245"/>
                  </a:ext>
                </a:extLst>
              </a:tr>
              <a:tr h="248649">
                <a:tc>
                  <a:txBody>
                    <a:bodyPr/>
                    <a:lstStyle/>
                    <a:p>
                      <a:r>
                        <a:rPr lang="en-GB" dirty="0"/>
                        <a:t>R^2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0.88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183908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r>
                        <a:rPr lang="en-GB" dirty="0"/>
                        <a:t>KGE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36944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E586A2-2ACC-42E9-065C-B87023524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4771" y="2176269"/>
            <a:ext cx="3407383" cy="2359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Using a multi-reservoir model, trained on data from </a:t>
            </a:r>
            <a:r>
              <a:rPr lang="en-GB" sz="2000" b="1" dirty="0"/>
              <a:t>Thailand and Europe </a:t>
            </a:r>
            <a:r>
              <a:rPr lang="en-GB" sz="2000" dirty="0"/>
              <a:t>to predict monthly storage in </a:t>
            </a:r>
            <a:r>
              <a:rPr lang="en-GB" sz="2000" b="1" dirty="0"/>
              <a:t>Lake Volta.</a:t>
            </a:r>
          </a:p>
        </p:txBody>
      </p:sp>
      <p:pic>
        <p:nvPicPr>
          <p:cNvPr id="13" name="Picture 1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19C8084A-3E17-979F-02D6-4769BE508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0" y="2176269"/>
            <a:ext cx="7959280" cy="406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7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548D4-FC13-A922-B3B2-328080F22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B152D5-E98C-B19E-77F7-DF1028D18353}"/>
              </a:ext>
            </a:extLst>
          </p:cNvPr>
          <p:cNvSpPr txBox="1"/>
          <p:nvPr/>
        </p:nvSpPr>
        <p:spPr>
          <a:xfrm>
            <a:off x="396815" y="1086928"/>
            <a:ext cx="4019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4F8242-AFB0-C4A3-4121-C6916954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5" y="1646183"/>
            <a:ext cx="5270560" cy="5211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Multi-reservoir models generally improve simulations:</a:t>
            </a:r>
            <a:endParaRPr lang="en-GB" sz="2000" dirty="0"/>
          </a:p>
          <a:p>
            <a:pPr>
              <a:buFontTx/>
              <a:buChar char="-"/>
            </a:pPr>
            <a:r>
              <a:rPr lang="en-GB" sz="2000" dirty="0"/>
              <a:t>capture extreme highs/lows better</a:t>
            </a:r>
          </a:p>
          <a:p>
            <a:pPr>
              <a:buFontTx/>
              <a:buChar char="-"/>
            </a:pPr>
            <a:r>
              <a:rPr lang="en-GB" sz="2000" dirty="0"/>
              <a:t>no significant difference between global/regional models</a:t>
            </a:r>
            <a:r>
              <a:rPr lang="en-GB" sz="2000" b="1" dirty="0"/>
              <a:t> </a:t>
            </a:r>
            <a:endParaRPr lang="en-GB" sz="2000" dirty="0"/>
          </a:p>
          <a:p>
            <a:pPr>
              <a:buFontTx/>
              <a:buChar char="-"/>
            </a:pPr>
            <a:r>
              <a:rPr lang="en-GB" sz="2000" dirty="0"/>
              <a:t>increased data requirement but can include reservoirs with shorter records</a:t>
            </a:r>
          </a:p>
          <a:p>
            <a:pPr>
              <a:buFontTx/>
              <a:buChar char="-"/>
            </a:pPr>
            <a:r>
              <a:rPr lang="en-GB" sz="2000" dirty="0"/>
              <a:t>improved performance 1 month ahead</a:t>
            </a:r>
          </a:p>
          <a:p>
            <a:pPr>
              <a:buFontTx/>
              <a:buChar char="-"/>
            </a:pPr>
            <a:r>
              <a:rPr lang="en-GB" sz="2000" dirty="0"/>
              <a:t>mixed picture at longer lead times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4CE61A-765F-1DED-BE59-B20157F8F9A1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495800" y="2241090"/>
            <a:ext cx="2981325" cy="87716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5B345F-9D51-82B1-37EE-859E325B52B0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5143500" y="3810000"/>
            <a:ext cx="2466975" cy="6722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40BAA18-B476-6D52-1602-83ECFC8F2E3E}"/>
              </a:ext>
            </a:extLst>
          </p:cNvPr>
          <p:cNvSpPr txBox="1"/>
          <p:nvPr/>
        </p:nvSpPr>
        <p:spPr>
          <a:xfrm>
            <a:off x="7477125" y="1086928"/>
            <a:ext cx="4318060" cy="230832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Where does improved performance plateau?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Are some reservoirs more “useful” than others?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Does it depend on the static characteristics or the historical storage patterns?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Does it vary globally?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6C5FD8-5C46-A970-618C-E609CC1A94C0}"/>
              </a:ext>
            </a:extLst>
          </p:cNvPr>
          <p:cNvSpPr txBox="1"/>
          <p:nvPr/>
        </p:nvSpPr>
        <p:spPr>
          <a:xfrm>
            <a:off x="7610475" y="4020628"/>
            <a:ext cx="4318060" cy="92333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There is potential to train a model in a data-rich region, and apply it to a data-poor region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8D7260C-4331-209B-584A-60CF5B13305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105275" y="5075001"/>
            <a:ext cx="704850" cy="6960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C663FB8-5F94-299E-1BCC-4A8621F3F56F}"/>
              </a:ext>
            </a:extLst>
          </p:cNvPr>
          <p:cNvSpPr txBox="1"/>
          <p:nvPr/>
        </p:nvSpPr>
        <p:spPr>
          <a:xfrm>
            <a:off x="4810125" y="5586406"/>
            <a:ext cx="4600575" cy="36933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Would an LSTM-type model work better?</a:t>
            </a:r>
          </a:p>
        </p:txBody>
      </p:sp>
    </p:spTree>
    <p:extLst>
      <p:ext uri="{BB962C8B-B14F-4D97-AF65-F5344CB8AC3E}">
        <p14:creationId xmlns:p14="http://schemas.microsoft.com/office/powerpoint/2010/main" val="127453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A8FD1-1CA8-BE45-87B6-7529D464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etal bridge over water&#10;&#10;AI-generated content may be incorrect.">
            <a:extLst>
              <a:ext uri="{FF2B5EF4-FFF2-40B4-BE49-F238E27FC236}">
                <a16:creationId xmlns:a16="http://schemas.microsoft.com/office/drawing/2014/main" id="{BB4BA51B-A4C3-E4D9-857A-C4300C6AB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" t="5606" r="197" b="5675"/>
          <a:stretch/>
        </p:blipFill>
        <p:spPr>
          <a:xfrm>
            <a:off x="-12526" y="0"/>
            <a:ext cx="12204525" cy="685272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6D756C-F9EA-E153-A5CF-1974A33E347A}"/>
              </a:ext>
            </a:extLst>
          </p:cNvPr>
          <p:cNvSpPr/>
          <p:nvPr/>
        </p:nvSpPr>
        <p:spPr>
          <a:xfrm>
            <a:off x="414068" y="3394500"/>
            <a:ext cx="9238891" cy="3152955"/>
          </a:xfrm>
          <a:prstGeom prst="roundRect">
            <a:avLst>
              <a:gd name="adj" fmla="val 572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1848E-12A2-E39F-9AB2-B339FC9F1E69}"/>
              </a:ext>
            </a:extLst>
          </p:cNvPr>
          <p:cNvSpPr txBox="1"/>
          <p:nvPr/>
        </p:nvSpPr>
        <p:spPr>
          <a:xfrm>
            <a:off x="948905" y="3689490"/>
            <a:ext cx="6040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Exploration exercises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3EBDE4-8C0D-0822-32C8-6DF80CA812A4}"/>
              </a:ext>
            </a:extLst>
          </p:cNvPr>
          <p:cNvCxnSpPr>
            <a:cxnSpLocks/>
          </p:cNvCxnSpPr>
          <p:nvPr/>
        </p:nvCxnSpPr>
        <p:spPr>
          <a:xfrm>
            <a:off x="1112808" y="4684140"/>
            <a:ext cx="8031192" cy="267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6C80B4-683B-90D7-55C4-A9D9812B1D55}"/>
              </a:ext>
            </a:extLst>
          </p:cNvPr>
          <p:cNvSpPr txBox="1"/>
          <p:nvPr/>
        </p:nvSpPr>
        <p:spPr>
          <a:xfrm>
            <a:off x="1023667" y="4970264"/>
            <a:ext cx="54617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Helen Baron &amp; Nathan Rickards</a:t>
            </a:r>
          </a:p>
          <a:p>
            <a:r>
              <a:rPr lang="en-GB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28/01/2026</a:t>
            </a:r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CD751DEB-8779-3E13-843A-552EA91F0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306" y="5493786"/>
            <a:ext cx="2791634" cy="966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D8D031-6BFF-8FCE-AB32-42B460D39250}"/>
              </a:ext>
            </a:extLst>
          </p:cNvPr>
          <p:cNvSpPr txBox="1"/>
          <p:nvPr/>
        </p:nvSpPr>
        <p:spPr>
          <a:xfrm>
            <a:off x="5977373" y="0"/>
            <a:ext cx="61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b="0" i="0" dirty="0">
                <a:solidFill>
                  <a:schemeClr val="bg1"/>
                </a:solidFill>
                <a:effectLst/>
              </a:rPr>
              <a:t>Adomi Bridge - </a:t>
            </a:r>
            <a:r>
              <a:rPr lang="en-GB" sz="2000" b="0" i="0" dirty="0" err="1">
                <a:solidFill>
                  <a:schemeClr val="bg1"/>
                </a:solidFill>
                <a:effectLst/>
              </a:rPr>
              <a:t>Atimpoku</a:t>
            </a:r>
            <a:endParaRPr lang="en-GB" sz="2000" b="0" i="0" dirty="0">
              <a:solidFill>
                <a:schemeClr val="bg1"/>
              </a:solidFill>
              <a:effectLst/>
            </a:endParaRP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5983A018-C51A-A184-1D13-AF08D23BD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147" y="5467589"/>
            <a:ext cx="1727785" cy="10798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058A7B88-9499-9F9B-2B3C-55EE7E828B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5" b="6220"/>
          <a:stretch/>
        </p:blipFill>
        <p:spPr>
          <a:xfrm>
            <a:off x="6428679" y="4782738"/>
            <a:ext cx="2754000" cy="7104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B6A5791-EE2D-64EC-47BC-2712CA445934}"/>
              </a:ext>
            </a:extLst>
          </p:cNvPr>
          <p:cNvGrpSpPr/>
          <p:nvPr/>
        </p:nvGrpSpPr>
        <p:grpSpPr>
          <a:xfrm>
            <a:off x="9689610" y="4881384"/>
            <a:ext cx="2465737" cy="513160"/>
            <a:chOff x="9255523" y="6253128"/>
            <a:chExt cx="2939589" cy="613323"/>
          </a:xfrm>
        </p:grpSpPr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C03B2AD4-CBF6-1005-37BC-F6C33A093A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55523" y="6253128"/>
            <a:ext cx="2780404" cy="613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crobat Document" r:id="rId6" imgW="3022552" imgH="666570" progId="Acrobat.Document.DC">
                    <p:embed/>
                  </p:oleObj>
                </mc:Choice>
                <mc:Fallback>
                  <p:oleObj name="Acrobat Document" r:id="rId6" imgW="3022552" imgH="666570" progId="Acrobat.Document.DC">
                    <p:embed/>
                    <p:pic>
                      <p:nvPicPr>
                        <p:cNvPr id="12" name="Object 11">
                          <a:extLst>
                            <a:ext uri="{FF2B5EF4-FFF2-40B4-BE49-F238E27FC236}">
                              <a16:creationId xmlns:a16="http://schemas.microsoft.com/office/drawing/2014/main" id="{C03B2AD4-CBF6-1005-37BC-F6C33A093A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9255523" y="6253128"/>
                          <a:ext cx="2780404" cy="6133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D91F41B-1576-69F9-202F-6000944D9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027115" y="6253129"/>
              <a:ext cx="167997" cy="6133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0559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9B871-582F-37FB-1C57-91275704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EB7084-6380-30C8-F59C-EC8FC84F86C6}"/>
              </a:ext>
            </a:extLst>
          </p:cNvPr>
          <p:cNvSpPr txBox="1"/>
          <p:nvPr/>
        </p:nvSpPr>
        <p:spPr>
          <a:xfrm>
            <a:off x="396815" y="1086928"/>
            <a:ext cx="5624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Morning session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51E75C-7067-AE80-0845-BA351704631C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92980E-94AE-6DA2-CEDB-088BD126650B}"/>
              </a:ext>
            </a:extLst>
          </p:cNvPr>
          <p:cNvSpPr txBox="1"/>
          <p:nvPr/>
        </p:nvSpPr>
        <p:spPr>
          <a:xfrm>
            <a:off x="6581956" y="6012611"/>
            <a:ext cx="2208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Image caption goes here</a:t>
            </a:r>
          </a:p>
        </p:txBody>
      </p:sp>
      <p:pic>
        <p:nvPicPr>
          <p:cNvPr id="3" name="Picture 2" descr="A building next to a body of water&#10;&#10;AI-generated content may be incorrect.">
            <a:extLst>
              <a:ext uri="{FF2B5EF4-FFF2-40B4-BE49-F238E27FC236}">
                <a16:creationId xmlns:a16="http://schemas.microsoft.com/office/drawing/2014/main" id="{44D86AF5-C7CB-29FA-2502-83B479B21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8" r="7917"/>
          <a:stretch/>
        </p:blipFill>
        <p:spPr>
          <a:xfrm>
            <a:off x="6236898" y="0"/>
            <a:ext cx="5955102" cy="6858000"/>
          </a:xfrm>
          <a:prstGeom prst="rect">
            <a:avLst/>
          </a:prstGeom>
        </p:spPr>
      </p:pic>
      <p:pic>
        <p:nvPicPr>
          <p:cNvPr id="8" name="Picture 7" descr="A diagram of a model selection&#10;&#10;AI-generated content may be incorrect.">
            <a:extLst>
              <a:ext uri="{FF2B5EF4-FFF2-40B4-BE49-F238E27FC236}">
                <a16:creationId xmlns:a16="http://schemas.microsoft.com/office/drawing/2014/main" id="{8DB05814-A378-A40A-CCAE-FF81F9050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15" y="1832610"/>
            <a:ext cx="2626167" cy="471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62A650-1CC5-5BC1-861F-132852649C99}"/>
              </a:ext>
            </a:extLst>
          </p:cNvPr>
          <p:cNvSpPr txBox="1"/>
          <p:nvPr/>
        </p:nvSpPr>
        <p:spPr>
          <a:xfrm>
            <a:off x="3444096" y="2053413"/>
            <a:ext cx="233757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We ran through this model flow for a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Random Forest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the Vaal reservoir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7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5B1C-BCBF-C2EA-04FE-39C9AAAD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EAAB6F-13BB-D4F5-69DE-A0C5ED57B117}"/>
              </a:ext>
            </a:extLst>
          </p:cNvPr>
          <p:cNvSpPr txBox="1"/>
          <p:nvPr/>
        </p:nvSpPr>
        <p:spPr>
          <a:xfrm>
            <a:off x="396815" y="1086928"/>
            <a:ext cx="5624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Afternoon session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598DBD-9E2F-BC15-A107-38E28B957F67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DBD8D-8928-633F-2230-635149350155}"/>
              </a:ext>
            </a:extLst>
          </p:cNvPr>
          <p:cNvSpPr txBox="1"/>
          <p:nvPr/>
        </p:nvSpPr>
        <p:spPr>
          <a:xfrm>
            <a:off x="6581956" y="6012611"/>
            <a:ext cx="2208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Image caption goes here</a:t>
            </a:r>
          </a:p>
        </p:txBody>
      </p:sp>
      <p:pic>
        <p:nvPicPr>
          <p:cNvPr id="8" name="Picture 7" descr="A diagram of a model selection&#10;&#10;AI-generated content may be incorrect.">
            <a:extLst>
              <a:ext uri="{FF2B5EF4-FFF2-40B4-BE49-F238E27FC236}">
                <a16:creationId xmlns:a16="http://schemas.microsoft.com/office/drawing/2014/main" id="{9613FF40-0121-9868-E5DB-A89B3B322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15" y="1832610"/>
            <a:ext cx="2626167" cy="471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DFD632-EC81-EA4B-21BB-FF42B3FEA0FE}"/>
              </a:ext>
            </a:extLst>
          </p:cNvPr>
          <p:cNvSpPr txBox="1"/>
          <p:nvPr/>
        </p:nvSpPr>
        <p:spPr>
          <a:xfrm>
            <a:off x="3374436" y="1840629"/>
            <a:ext cx="251100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Exploration session!</a:t>
            </a:r>
          </a:p>
          <a:p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Options: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1. Repeating the model flow with a different reservoir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2. Repeating with a different model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3. Using the model for forecasting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ody of water with grass and a cloudy sky&#10;&#10;AI-generated content may be incorrect.">
            <a:extLst>
              <a:ext uri="{FF2B5EF4-FFF2-40B4-BE49-F238E27FC236}">
                <a16:creationId xmlns:a16="http://schemas.microsoft.com/office/drawing/2014/main" id="{9C329C03-A993-0B22-9918-AEBC47A3B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1" b="7996"/>
          <a:stretch/>
        </p:blipFill>
        <p:spPr>
          <a:xfrm>
            <a:off x="6236898" y="-1"/>
            <a:ext cx="59699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49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01532-99DE-7CA2-3A58-D8720CA6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AF747A-344E-255C-5B5C-E66C3F347A58}"/>
              </a:ext>
            </a:extLst>
          </p:cNvPr>
          <p:cNvSpPr txBox="1"/>
          <p:nvPr/>
        </p:nvSpPr>
        <p:spPr>
          <a:xfrm>
            <a:off x="396815" y="1086928"/>
            <a:ext cx="5624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Differences between models</a:t>
            </a:r>
            <a:endParaRPr lang="en-GB" b="1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2FCB8B-DDA2-0AFF-0A3B-53FB962EFA7C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DD53D-5BE1-B185-3F5E-B4FA897D90CB}"/>
              </a:ext>
            </a:extLst>
          </p:cNvPr>
          <p:cNvSpPr txBox="1"/>
          <p:nvPr/>
        </p:nvSpPr>
        <p:spPr>
          <a:xfrm>
            <a:off x="396815" y="1644781"/>
            <a:ext cx="11680166" cy="147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different ensemble-tree models vary in how they </a:t>
            </a:r>
            <a:r>
              <a:rPr lang="en-GB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n-GB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data, and how they </a:t>
            </a:r>
            <a:r>
              <a:rPr lang="en-GB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n-GB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individual trees.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There is lots of information online, this is a high-level comparison of a subset of models.</a:t>
            </a:r>
            <a:endParaRPr lang="en-GB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GB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CD802A-EC77-9733-033E-C04759DC1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902013"/>
              </p:ext>
            </p:extLst>
          </p:nvPr>
        </p:nvGraphicFramePr>
        <p:xfrm>
          <a:off x="452886" y="2565089"/>
          <a:ext cx="11286227" cy="38404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57245">
                  <a:extLst>
                    <a:ext uri="{9D8B030D-6E8A-4147-A177-3AD203B41FA5}">
                      <a16:colId xmlns:a16="http://schemas.microsoft.com/office/drawing/2014/main" val="1458186104"/>
                    </a:ext>
                  </a:extLst>
                </a:gridCol>
                <a:gridCol w="2257245">
                  <a:extLst>
                    <a:ext uri="{9D8B030D-6E8A-4147-A177-3AD203B41FA5}">
                      <a16:colId xmlns:a16="http://schemas.microsoft.com/office/drawing/2014/main" val="364377407"/>
                    </a:ext>
                  </a:extLst>
                </a:gridCol>
                <a:gridCol w="2676685">
                  <a:extLst>
                    <a:ext uri="{9D8B030D-6E8A-4147-A177-3AD203B41FA5}">
                      <a16:colId xmlns:a16="http://schemas.microsoft.com/office/drawing/2014/main" val="2617677275"/>
                    </a:ext>
                  </a:extLst>
                </a:gridCol>
                <a:gridCol w="1837807">
                  <a:extLst>
                    <a:ext uri="{9D8B030D-6E8A-4147-A177-3AD203B41FA5}">
                      <a16:colId xmlns:a16="http://schemas.microsoft.com/office/drawing/2014/main" val="1428910643"/>
                    </a:ext>
                  </a:extLst>
                </a:gridCol>
                <a:gridCol w="2257245">
                  <a:extLst>
                    <a:ext uri="{9D8B030D-6E8A-4147-A177-3AD203B41FA5}">
                      <a16:colId xmlns:a16="http://schemas.microsoft.com/office/drawing/2014/main" val="2566108100"/>
                    </a:ext>
                  </a:extLst>
                </a:gridCol>
              </a:tblGrid>
              <a:tr h="248649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477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Build</a:t>
                      </a:r>
                    </a:p>
                  </a:txBody>
                  <a:tcPr>
                    <a:solidFill>
                      <a:srgbClr val="477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Data sample</a:t>
                      </a:r>
                    </a:p>
                  </a:txBody>
                  <a:tcPr>
                    <a:solidFill>
                      <a:srgbClr val="477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477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Prediction</a:t>
                      </a:r>
                    </a:p>
                  </a:txBody>
                  <a:tcPr>
                    <a:solidFill>
                      <a:srgbClr val="477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514341"/>
                  </a:ext>
                </a:extLst>
              </a:tr>
              <a:tr h="435137">
                <a:tc>
                  <a:txBody>
                    <a:bodyPr/>
                    <a:lstStyle/>
                    <a:p>
                      <a:r>
                        <a:rPr lang="en-GB" dirty="0"/>
                        <a:t>Bagging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Parallel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Random with replacement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Optimal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Average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267655"/>
                  </a:ext>
                </a:extLst>
              </a:tr>
              <a:tr h="621624">
                <a:tc>
                  <a:txBody>
                    <a:bodyPr/>
                    <a:lstStyle/>
                    <a:p>
                      <a:r>
                        <a:rPr lang="en-GB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Random with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Optimal, random subset of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74245"/>
                  </a:ext>
                </a:extLst>
              </a:tr>
              <a:tr h="248649">
                <a:tc>
                  <a:txBody>
                    <a:bodyPr/>
                    <a:lstStyle/>
                    <a:p>
                      <a:r>
                        <a:rPr lang="en-GB" dirty="0"/>
                        <a:t>Extra Trees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Parallel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Entire set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Random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Average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183908"/>
                  </a:ext>
                </a:extLst>
              </a:tr>
              <a:tr h="761256">
                <a:tc>
                  <a:txBody>
                    <a:bodyPr/>
                    <a:lstStyle/>
                    <a:p>
                      <a:r>
                        <a:rPr lang="en-GB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Entire set, trees are trained on pseudo-residuals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Continually updated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36944"/>
                  </a:ext>
                </a:extLst>
              </a:tr>
              <a:tr h="475785">
                <a:tc>
                  <a:txBody>
                    <a:bodyPr/>
                    <a:lstStyle/>
                    <a:p>
                      <a:r>
                        <a:rPr lang="en-GB" dirty="0"/>
                        <a:t>Ada Boost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Sequential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Entire set, weighted by loss function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Optimal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Weighted average</a:t>
                      </a:r>
                    </a:p>
                  </a:txBody>
                  <a:tcPr>
                    <a:solidFill>
                      <a:srgbClr val="477AE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62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345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02E34-EC67-F8B4-C516-C6332E07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147688-F13D-C654-F752-4D2CA2FF9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8C7B8-2C83-F96B-D897-00DA4B3090D7}"/>
              </a:ext>
            </a:extLst>
          </p:cNvPr>
          <p:cNvSpPr txBox="1"/>
          <p:nvPr/>
        </p:nvSpPr>
        <p:spPr>
          <a:xfrm>
            <a:off x="759123" y="502741"/>
            <a:ext cx="3063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5526D5-5BC4-6994-1577-E2FDAC0B8792}"/>
              </a:ext>
            </a:extLst>
          </p:cNvPr>
          <p:cNvSpPr txBox="1"/>
          <p:nvPr/>
        </p:nvSpPr>
        <p:spPr>
          <a:xfrm>
            <a:off x="948904" y="1644288"/>
            <a:ext cx="409385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DBF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more information</a:t>
            </a:r>
          </a:p>
          <a:p>
            <a:r>
              <a:rPr lang="en-GB" sz="2000" dirty="0">
                <a:solidFill>
                  <a:srgbClr val="DBF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contact:</a:t>
            </a:r>
          </a:p>
          <a:p>
            <a:endParaRPr lang="en-GB" sz="20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[EMAIL US]</a:t>
            </a:r>
          </a:p>
          <a:p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NC-international@ceh.ac.uk</a:t>
            </a:r>
          </a:p>
          <a:p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[LEARN MORE]</a:t>
            </a:r>
          </a:p>
          <a:p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ceh.ac.uk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[FOLLOW US]</a:t>
            </a:r>
          </a:p>
          <a:p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@uk_ceh</a:t>
            </a:r>
          </a:p>
          <a:p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C2F0447-6B19-03BD-B1ED-195C715B4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04" y="5524262"/>
            <a:ext cx="2191109" cy="758932"/>
          </a:xfrm>
          <a:prstGeom prst="rect">
            <a:avLst/>
          </a:prstGeom>
        </p:spPr>
      </p:pic>
      <p:pic>
        <p:nvPicPr>
          <p:cNvPr id="6" name="Picture 5" descr="A black and white image of a flower&#10;&#10;AI-generated content may be incorrect.">
            <a:extLst>
              <a:ext uri="{FF2B5EF4-FFF2-40B4-BE49-F238E27FC236}">
                <a16:creationId xmlns:a16="http://schemas.microsoft.com/office/drawing/2014/main" id="{D113408D-883C-D1BE-90CA-6478E4C73A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566" r="21202"/>
          <a:stretch/>
        </p:blipFill>
        <p:spPr>
          <a:xfrm>
            <a:off x="5042761" y="0"/>
            <a:ext cx="7616796" cy="68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96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237F9DEC21C3409963BBCED1B1D708" ma:contentTypeVersion="12" ma:contentTypeDescription="Create a new document." ma:contentTypeScope="" ma:versionID="97581c39be7ccbae3c7985acd9ff0643">
  <xsd:schema xmlns:xsd="http://www.w3.org/2001/XMLSchema" xmlns:xs="http://www.w3.org/2001/XMLSchema" xmlns:p="http://schemas.microsoft.com/office/2006/metadata/properties" xmlns:ns2="64c174c2-07d0-4380-a1ee-3531d739a9d5" xmlns:ns3="a3da675f-a1db-487b-89b2-b8976031afde" targetNamespace="http://schemas.microsoft.com/office/2006/metadata/properties" ma:root="true" ma:fieldsID="0fa405519adfe686adac846996ad5894" ns2:_="" ns3:_="">
    <xsd:import namespace="64c174c2-07d0-4380-a1ee-3531d739a9d5"/>
    <xsd:import namespace="a3da675f-a1db-487b-89b2-b8976031a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174c2-07d0-4380-a1ee-3531d739a9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3ea2160-29c6-45a3-9bc6-8bc28cb089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da675f-a1db-487b-89b2-b8976031afd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c174c2-07d0-4380-a1ee-3531d739a9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5E246A-831B-40FD-BC9F-40562B906B92}">
  <ds:schemaRefs>
    <ds:schemaRef ds:uri="64c174c2-07d0-4380-a1ee-3531d739a9d5"/>
    <ds:schemaRef ds:uri="a3da675f-a1db-487b-89b2-b8976031af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09F938A-2F83-4A83-A512-7C2DFD371F8F}">
  <ds:schemaRefs>
    <ds:schemaRef ds:uri="64c174c2-07d0-4380-a1ee-3531d739a9d5"/>
    <ds:schemaRef ds:uri="a3da675f-a1db-487b-89b2-b8976031afd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A7CDB85-E624-493E-97F5-47EF0601F0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600</Words>
  <Application>Microsoft Office PowerPoint</Application>
  <PresentationFormat>Widescreen</PresentationFormat>
  <Paragraphs>174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Kelly</dc:creator>
  <cp:lastModifiedBy>Helen Baron</cp:lastModifiedBy>
  <cp:revision>3</cp:revision>
  <dcterms:created xsi:type="dcterms:W3CDTF">2025-10-31T18:03:10Z</dcterms:created>
  <dcterms:modified xsi:type="dcterms:W3CDTF">2026-02-05T09:23:19Z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0x01010067237F9DEC21C3409963BBCED1B1D708</vt:lpwstr>
  </property>
</Properties>
</file>