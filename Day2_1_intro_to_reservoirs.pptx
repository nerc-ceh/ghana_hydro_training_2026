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0F_6CEA7E28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68" r:id="rId7"/>
    <p:sldId id="264" r:id="rId8"/>
    <p:sldId id="259" r:id="rId9"/>
    <p:sldId id="265" r:id="rId10"/>
    <p:sldId id="261" r:id="rId11"/>
    <p:sldId id="263" r:id="rId12"/>
    <p:sldId id="267" r:id="rId13"/>
    <p:sldId id="270" r:id="rId14"/>
    <p:sldId id="271" r:id="rId15"/>
    <p:sldId id="258" r:id="rId16"/>
    <p:sldId id="26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CA1F60-9073-5AC4-70F1-1440186DDAD3}" name="Nathan Rickards" initials="NR" userId="S::natric@ceh.ac.uk::463c1745-ed1a-4550-babd-ffbdcb3dba1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7AE2"/>
    <a:srgbClr val="D6EAE6"/>
    <a:srgbClr val="D7B7AA"/>
    <a:srgbClr val="DBFE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/>
              <a:t>Total reservoir storage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storage (billion m3)</c:v>
                </c:pt>
              </c:strCache>
            </c:strRef>
          </c:tx>
          <c:spPr>
            <a:solidFill>
              <a:schemeClr val="accent5"/>
            </a:solidFill>
            <a:ln>
              <a:solidFill>
                <a:srgbClr val="FF0000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Ghana</c:v>
                </c:pt>
                <c:pt idx="1">
                  <c:v>UK</c:v>
                </c:pt>
                <c:pt idx="2">
                  <c:v>US</c:v>
                </c:pt>
                <c:pt idx="3">
                  <c:v>India</c:v>
                </c:pt>
                <c:pt idx="4">
                  <c:v>China</c:v>
                </c:pt>
                <c:pt idx="5">
                  <c:v>Africa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148</c:v>
                </c:pt>
                <c:pt idx="1">
                  <c:v>3</c:v>
                </c:pt>
                <c:pt idx="2">
                  <c:v>343</c:v>
                </c:pt>
                <c:pt idx="3">
                  <c:v>180.8</c:v>
                </c:pt>
                <c:pt idx="4">
                  <c:v>1000</c:v>
                </c:pt>
                <c:pt idx="5">
                  <c:v>597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8A-43B4-8FBB-67DA6BA415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55057832"/>
        <c:axId val="555057472"/>
      </c:barChart>
      <c:catAx>
        <c:axId val="555057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5057472"/>
        <c:crosses val="autoZero"/>
        <c:auto val="1"/>
        <c:lblAlgn val="ctr"/>
        <c:lblOffset val="100"/>
        <c:noMultiLvlLbl val="0"/>
      </c:catAx>
      <c:valAx>
        <c:axId val="555057472"/>
        <c:scaling>
          <c:orientation val="minMax"/>
          <c:max val="1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200" b="1"/>
                  <a:t>Total storage (BCM)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5057832"/>
        <c:crosses val="autoZero"/>
        <c:crossBetween val="between"/>
      </c:valAx>
      <c:spPr>
        <a:solidFill>
          <a:srgbClr val="D6EAE6"/>
        </a:solidFill>
        <a:ln w="127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10F_6CEA7E2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5130FE9-9526-48A1-94D4-9C883939BE1E}" authorId="{00CA1F60-9073-5AC4-70F1-1440186DDAD3}" created="2026-01-19T09:52:32.15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827307048" sldId="271"/>
      <ac:spMk id="10" creationId="{98BA6436-5E6C-594C-456C-9E8D3D3AA385}"/>
      <ac:txMk cp="143" len="48">
        <ac:context len="346" hash="646887843"/>
      </ac:txMk>
    </ac:txMkLst>
    <p188:pos x="6539978" y="1542635"/>
    <p188:txBody>
      <a:bodyPr/>
      <a:lstStyle/>
      <a:p>
        <a:r>
          <a:rPr lang="en-GB"/>
          <a:t>Update if we use this to apply the trained model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61320D-CA4B-42E6-B826-E066802D6D3A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C020BF-5317-4617-89E4-B47918B142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001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020BF-5317-4617-89E4-B47918B142F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2112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estimate water availability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 varying inflow and demand conditions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operational decisions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(releases, storage targets, rule curves)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assess drought and flood risks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 multipurpose use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manage trade-offs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scenarios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(climate change, population growth, new infrastructure)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planning, policy, and investment decisions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020BF-5317-4617-89E4-B47918B142F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318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020BF-5317-4617-89E4-B47918B142F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8292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8EE22-A586-097D-C77F-2CF962996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F218B4-28C8-0634-E745-904B7E17C9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4BF6F6-CFD6-E489-BACD-5864BAE77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B245F-B195-AF68-08F9-B490E14E87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020BF-5317-4617-89E4-B47918B142F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412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36E96-A7A1-B15E-CEE2-B1C96E714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8B1580-B440-64D3-5336-D14E608A8B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AC665-1D78-8869-FF14-609B564BD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A234E-26E0-DD4E-C2CC-D2AA99093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020BF-5317-4617-89E4-B47918B142F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3439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6E8FB-239F-B1E6-1F9B-01EEB2284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78A425-A456-B93F-0A4A-03FD220CD7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89FD7-9D13-926E-7010-12C52CF13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7B897-ABC3-9A86-24DF-87B586457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CB3A6-43E1-7EDC-3C1E-025419851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526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08161-B1AA-54EA-2B66-42F6C308C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8D73D-8CAF-4B22-5254-DFECD0BB2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74FB3-B933-EC45-4D2D-4F6609B98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C32C7-72A1-2D5D-E674-2C327038B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F27FA-DFAA-72A0-FD8D-EF274552E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7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A0B7B-A9D2-7E15-EB8C-17AEDF050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3E349-A3DD-AC4C-2208-4F27990A2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07F1B-58AC-EAD5-C4E4-D3C0A2E08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B51A6-3E3B-1E53-537F-DE8A54CAB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0CD81-104A-5CA1-AF95-0CAA09FF9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8945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F03E6-8BB1-774F-918A-8EB0C3266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C0B9-472C-7578-F9EA-AF19D30D0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F704CD-5582-271F-6827-135E88CA4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1D34B-5C1C-9836-57EF-EB22EA601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12FE20-3077-152B-3E4E-E440A624A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9D63F5-F8CA-3A5F-620E-F9CE22A18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0207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53BA9-8AC3-ABDD-3994-75AF889F1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1C426-2005-A423-62C7-429263A64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9B51A2-5F00-14F6-E036-83773D955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92A906-DA5C-E0B3-635F-DF0DD6E5D6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B7BC21-BD07-F242-A01D-998267C9C8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B5EB78-18EE-C10A-2FEC-D382DC6D0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B5961A-EB57-E029-2ED1-6648E5F33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7C0AF1-9099-6DBA-1557-04EBFDA66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113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6326B-079C-C453-CBB0-7233228C5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DAB194-6E8B-4DEC-BCC8-FD18AAB5B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BB1F90-35B5-34A8-2473-36C9D1693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04E45D-0CF2-E15B-F767-666C59E1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6882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271177-35C3-DD68-2E9A-E84930296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4B9A68-2F8A-963B-846C-D38C935A6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FD988-58E4-D914-82E2-744D883B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337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E467D-9A28-C06F-0177-E7BB540A4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65253-F74E-F4CE-148D-88462AD5E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923ED4-A205-A906-0888-76C83F45B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F7C32-191B-5CF9-2A34-A8B3F9F85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266F2-B189-64A5-C31C-068428102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43DE7-4CB8-BFEE-CB93-A040CD43B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9266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4E203-8958-4493-6503-B6886F2A8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6F3B82-0D91-26DF-EEA8-498F7689D1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4BF2B1-2DD9-D0C6-5F9E-AF4B3CF5AF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0F2EE9-53A6-1610-5247-814B3ED48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5ECD60-6777-6515-EA16-C7E815227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A6B40-9AE8-8D40-553B-CB837C01A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298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82F90-E641-705A-A7AA-E76D19739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B08CE-6488-EDF2-23EF-F9C7E81D2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CC0B0-ABF8-B52A-146D-907581F97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7DEB9-E85B-4F55-A5AC-C4D931411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8E368-8E4D-25EB-42B0-C6D96396A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7578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4DAD58-7A62-5C69-201B-327BEC3E2F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791391-797D-52E0-121C-5A1267ABD7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B2127-8FE0-A63C-C12D-DD7C50F7F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254BF-50FC-9FA2-C1EC-890C8AFE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42FC2-A558-7A28-3604-BF88B0C95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576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009EE1-B9E6-C9FA-7624-D7BD27A0C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466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844EA-6CC7-CDAB-09E7-BE75F6EDF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24023"/>
            <a:ext cx="10515600" cy="3752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2EE43-430F-524F-605F-9E2B0C0FB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9D34AC5-60C1-4DB6-BEC5-231E7DF56BDC}" type="datetimeFigureOut">
              <a:rPr lang="en-GB" smtClean="0"/>
              <a:pPr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957E0-98EA-E1D9-CF85-8FEFC150D6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09936-152C-D59A-14AA-FAFEB01A72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42D622C-947B-4C46-AF7A-D3138CD19E8F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9402B42-503D-CE41-A425-D6857A7F228F}"/>
              </a:ext>
            </a:extLst>
          </p:cNvPr>
          <p:cNvCxnSpPr/>
          <p:nvPr userDrawn="1"/>
        </p:nvCxnSpPr>
        <p:spPr>
          <a:xfrm>
            <a:off x="355121" y="733244"/>
            <a:ext cx="1143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Picture 1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B81FC7D-129E-343F-961D-D5E39B4367D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21" y="252963"/>
            <a:ext cx="1370888" cy="36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0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17.png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F_6CEA7E2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heron@ceh.ac.uk" TargetMode="External"/><Relationship Id="rId2" Type="http://schemas.openxmlformats.org/officeDocument/2006/relationships/hyperlink" Target="mailto:natric@ceh.ac.uk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metal bridge over water&#10;&#10;AI-generated content may be incorrect.">
            <a:extLst>
              <a:ext uri="{FF2B5EF4-FFF2-40B4-BE49-F238E27FC236}">
                <a16:creationId xmlns:a16="http://schemas.microsoft.com/office/drawing/2014/main" id="{33C57763-1533-6DD4-CC43-E4AF640B9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" t="5606" r="197" b="5675"/>
          <a:stretch/>
        </p:blipFill>
        <p:spPr>
          <a:xfrm>
            <a:off x="-12526" y="0"/>
            <a:ext cx="12204525" cy="6852723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5A9144E-7D5C-D2D1-2599-8B1C06C3C6AD}"/>
              </a:ext>
            </a:extLst>
          </p:cNvPr>
          <p:cNvSpPr/>
          <p:nvPr/>
        </p:nvSpPr>
        <p:spPr>
          <a:xfrm>
            <a:off x="414068" y="3394500"/>
            <a:ext cx="9238891" cy="3152955"/>
          </a:xfrm>
          <a:prstGeom prst="roundRect">
            <a:avLst>
              <a:gd name="adj" fmla="val 5723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1F4178-D987-3557-A28A-A9D955A878A1}"/>
              </a:ext>
            </a:extLst>
          </p:cNvPr>
          <p:cNvSpPr txBox="1"/>
          <p:nvPr/>
        </p:nvSpPr>
        <p:spPr>
          <a:xfrm>
            <a:off x="948905" y="3689490"/>
            <a:ext cx="56284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Reservoir modelling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FA1A90F-D10A-953C-11EA-5C09DF6B4A0D}"/>
              </a:ext>
            </a:extLst>
          </p:cNvPr>
          <p:cNvCxnSpPr>
            <a:cxnSpLocks/>
          </p:cNvCxnSpPr>
          <p:nvPr/>
        </p:nvCxnSpPr>
        <p:spPr>
          <a:xfrm>
            <a:off x="1112808" y="4684140"/>
            <a:ext cx="8031192" cy="267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81BED73-0B36-BB4E-9C4A-DCEE976EDCC6}"/>
              </a:ext>
            </a:extLst>
          </p:cNvPr>
          <p:cNvSpPr txBox="1"/>
          <p:nvPr/>
        </p:nvSpPr>
        <p:spPr>
          <a:xfrm>
            <a:off x="1023667" y="4970264"/>
            <a:ext cx="528221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Nathan Rickards &amp; Helen Baron</a:t>
            </a:r>
          </a:p>
          <a:p>
            <a:r>
              <a:rPr lang="en-GB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28.01.2026</a:t>
            </a:r>
          </a:p>
        </p:txBody>
      </p:sp>
      <p:pic>
        <p:nvPicPr>
          <p:cNvPr id="13" name="Picture 12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68D0BD35-7D2F-00C9-A3A5-C166641BAB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306" y="5493786"/>
            <a:ext cx="2791634" cy="9669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4702FA-E091-82B3-F005-CA6BCAA1504C}"/>
              </a:ext>
            </a:extLst>
          </p:cNvPr>
          <p:cNvSpPr txBox="1"/>
          <p:nvPr/>
        </p:nvSpPr>
        <p:spPr>
          <a:xfrm>
            <a:off x="5977373" y="0"/>
            <a:ext cx="612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000" b="0" i="0">
                <a:solidFill>
                  <a:schemeClr val="bg1"/>
                </a:solidFill>
                <a:effectLst/>
              </a:rPr>
              <a:t>Adomi Bridge - </a:t>
            </a:r>
            <a:r>
              <a:rPr lang="en-GB" sz="2000" b="0" i="0" err="1">
                <a:solidFill>
                  <a:schemeClr val="bg1"/>
                </a:solidFill>
                <a:effectLst/>
              </a:rPr>
              <a:t>Atimpoku</a:t>
            </a:r>
            <a:endParaRPr lang="en-GB" sz="2000" b="0" i="0">
              <a:solidFill>
                <a:schemeClr val="bg1"/>
              </a:solidFill>
              <a:effectLst/>
            </a:endParaRPr>
          </a:p>
        </p:txBody>
      </p: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1DF7FA5B-7877-A0D7-EF6D-FED3B2A58D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0147" y="5467589"/>
            <a:ext cx="1727785" cy="107986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Picture 8" descr="A black and white logo&#10;&#10;Description automatically generated with medium confidence">
            <a:extLst>
              <a:ext uri="{FF2B5EF4-FFF2-40B4-BE49-F238E27FC236}">
                <a16:creationId xmlns:a16="http://schemas.microsoft.com/office/drawing/2014/main" id="{D164CD6B-EE3C-DCA4-1164-4E6C4D1ABF7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85" b="6220"/>
          <a:stretch/>
        </p:blipFill>
        <p:spPr>
          <a:xfrm>
            <a:off x="6428679" y="4782738"/>
            <a:ext cx="2754000" cy="71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486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83DF5EE-CAC6-99AC-40A9-50995663F716}"/>
              </a:ext>
            </a:extLst>
          </p:cNvPr>
          <p:cNvSpPr txBox="1"/>
          <p:nvPr/>
        </p:nvSpPr>
        <p:spPr>
          <a:xfrm>
            <a:off x="407448" y="960540"/>
            <a:ext cx="5840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194494-DB1B-F2A7-B700-4FDF1D147308}"/>
              </a:ext>
            </a:extLst>
          </p:cNvPr>
          <p:cNvSpPr txBox="1"/>
          <p:nvPr/>
        </p:nvSpPr>
        <p:spPr>
          <a:xfrm>
            <a:off x="407448" y="1742736"/>
            <a:ext cx="5688552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>
                <a:latin typeface="Arial" panose="020B0604020202020204" pitchFamily="34" charset="0"/>
                <a:cs typeface="Arial" panose="020B0604020202020204" pitchFamily="34" charset="0"/>
              </a:rPr>
              <a:t>Helen Baron</a:t>
            </a:r>
          </a:p>
          <a:p>
            <a:r>
              <a:rPr lang="en-GB" sz="2200">
                <a:latin typeface="Arial" panose="020B0604020202020204" pitchFamily="34" charset="0"/>
                <a:cs typeface="Arial" panose="020B0604020202020204" pitchFamily="34" charset="0"/>
              </a:rPr>
              <a:t>Hydrological modeller</a:t>
            </a:r>
          </a:p>
          <a:p>
            <a:r>
              <a:rPr lang="en-GB" sz="2200">
                <a:solidFill>
                  <a:srgbClr val="477AE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heron@ceh.ac.uk</a:t>
            </a:r>
          </a:p>
          <a:p>
            <a:endParaRPr lang="en-GB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2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2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2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200" b="1">
                <a:latin typeface="Arial" panose="020B0604020202020204" pitchFamily="34" charset="0"/>
                <a:cs typeface="Arial" panose="020B0604020202020204" pitchFamily="34" charset="0"/>
              </a:rPr>
              <a:t>Nathan Rickards</a:t>
            </a:r>
          </a:p>
          <a:p>
            <a:r>
              <a:rPr lang="en-GB" sz="2200">
                <a:latin typeface="Arial" panose="020B0604020202020204" pitchFamily="34" charset="0"/>
                <a:cs typeface="Arial" panose="020B0604020202020204" pitchFamily="34" charset="0"/>
              </a:rPr>
              <a:t>Hydrologist</a:t>
            </a:r>
          </a:p>
          <a:p>
            <a:r>
              <a:rPr lang="en-GB" sz="2200">
                <a:solidFill>
                  <a:srgbClr val="477AE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natric@ceh.ac.uk</a:t>
            </a:r>
          </a:p>
          <a:p>
            <a:endParaRPr lang="en-GB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298F3E-EC47-BF1F-1389-1E8F9298A4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59" t="13747" r="7447" b="14740"/>
          <a:stretch/>
        </p:blipFill>
        <p:spPr>
          <a:xfrm>
            <a:off x="4002157" y="1483760"/>
            <a:ext cx="1789044" cy="17710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CBE40F-C2EA-93D8-BDA5-6E9B3DD5C4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413" t="12682" r="12305" b="23633"/>
          <a:stretch/>
        </p:blipFill>
        <p:spPr>
          <a:xfrm>
            <a:off x="4002157" y="4096552"/>
            <a:ext cx="1815547" cy="18009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698550-33FE-2A8B-E2A9-49CD0ABF80EA}"/>
              </a:ext>
            </a:extLst>
          </p:cNvPr>
          <p:cNvSpPr txBox="1"/>
          <p:nvPr/>
        </p:nvSpPr>
        <p:spPr>
          <a:xfrm>
            <a:off x="6247531" y="1491481"/>
            <a:ext cx="5840083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Today’s training: </a:t>
            </a:r>
          </a:p>
          <a:p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Reservoir forecasting using a machine learning approach</a:t>
            </a:r>
          </a:p>
          <a:p>
            <a:endParaRPr lang="en-GB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Both Helen and Nathan work in the Water Resources &amp; Drought Group at UKCEH Wallingford.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Lots of experience in hydrological modelling, capacity building and international water resources – although this is our first time working in Ghana!</a:t>
            </a:r>
          </a:p>
          <a:p>
            <a:endParaRPr lang="en-GB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A59EA6-BB27-1D5F-746E-C8B84505B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0884" y="3931572"/>
            <a:ext cx="2078582" cy="196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154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37DFDEE-A745-D589-23BB-C6C0974341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9017478"/>
              </p:ext>
            </p:extLst>
          </p:nvPr>
        </p:nvGraphicFramePr>
        <p:xfrm>
          <a:off x="6889367" y="784011"/>
          <a:ext cx="4986109" cy="569163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93740">
                  <a:extLst>
                    <a:ext uri="{9D8B030D-6E8A-4147-A177-3AD203B41FA5}">
                      <a16:colId xmlns:a16="http://schemas.microsoft.com/office/drawing/2014/main" val="3308925089"/>
                    </a:ext>
                  </a:extLst>
                </a:gridCol>
                <a:gridCol w="2992369">
                  <a:extLst>
                    <a:ext uri="{9D8B030D-6E8A-4147-A177-3AD203B41FA5}">
                      <a16:colId xmlns:a16="http://schemas.microsoft.com/office/drawing/2014/main" val="1581526547"/>
                    </a:ext>
                  </a:extLst>
                </a:gridCol>
              </a:tblGrid>
              <a:tr h="360261">
                <a:tc>
                  <a:txBody>
                    <a:bodyPr/>
                    <a:lstStyle/>
                    <a:p>
                      <a:pPr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200">
                          <a:effectLst/>
                        </a:rPr>
                        <a:t> 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200">
                          <a:effectLst/>
                        </a:rPr>
                        <a:t>Day 2: Wednesday 28</a:t>
                      </a:r>
                      <a:r>
                        <a:rPr lang="en-GB" sz="1200" kern="1200" baseline="30000">
                          <a:effectLst/>
                        </a:rPr>
                        <a:t>th</a:t>
                      </a:r>
                      <a:r>
                        <a:rPr lang="en-GB" sz="1200" kern="1200">
                          <a:effectLst/>
                        </a:rPr>
                        <a:t> January 2026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/>
                </a:tc>
                <a:extLst>
                  <a:ext uri="{0D108BD9-81ED-4DB2-BD59-A6C34878D82A}">
                    <a16:rowId xmlns:a16="http://schemas.microsoft.com/office/drawing/2014/main" val="93134803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200">
                          <a:effectLst/>
                        </a:rPr>
                        <a:t> </a:t>
                      </a:r>
                      <a:r>
                        <a:rPr lang="en-GB" sz="1200" b="1" kern="1200">
                          <a:effectLst/>
                        </a:rPr>
                        <a:t>Reservoir forecasting using machine learning</a:t>
                      </a:r>
                      <a:endParaRPr lang="en-GB" sz="1200" b="1" kern="100">
                        <a:effectLst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5352" marR="35352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0634974"/>
                  </a:ext>
                </a:extLst>
              </a:tr>
              <a:tr h="552188">
                <a:tc>
                  <a:txBody>
                    <a:bodyPr/>
                    <a:lstStyle/>
                    <a:p>
                      <a:pPr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200">
                          <a:effectLst/>
                        </a:rPr>
                        <a:t>09:00 - 10:00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200">
                          <a:effectLst/>
                        </a:rPr>
                        <a:t>Talks: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0" kern="1200">
                          <a:effectLst/>
                        </a:rPr>
                        <a:t>1. Reservoirs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0" kern="1200">
                          <a:effectLst/>
                        </a:rPr>
                        <a:t>2. Introduction to Machine Learning (ML) based modelling</a:t>
                      </a:r>
                      <a:endParaRPr lang="en-GB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8007537"/>
                  </a:ext>
                </a:extLst>
              </a:tr>
              <a:tr h="595532">
                <a:tc>
                  <a:txBody>
                    <a:bodyPr/>
                    <a:lstStyle/>
                    <a:p>
                      <a:pPr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200">
                          <a:effectLst/>
                        </a:rPr>
                        <a:t>10:00 - 11:00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200">
                          <a:effectLst/>
                        </a:rPr>
                        <a:t>Workshop: </a:t>
                      </a:r>
                      <a:r>
                        <a:rPr lang="en-GB" sz="1200" kern="1200">
                          <a:effectLst/>
                        </a:rPr>
                        <a:t>ML-based water resource modelling: </a:t>
                      </a:r>
                      <a:r>
                        <a:rPr lang="en-GB" sz="1200" i="1" kern="1200">
                          <a:effectLst/>
                        </a:rPr>
                        <a:t>Data/train/predict/visualise results</a:t>
                      </a:r>
                      <a:endParaRPr lang="en-GB" sz="1200" i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8424832"/>
                  </a:ext>
                </a:extLst>
              </a:tr>
              <a:tr h="170505">
                <a:tc>
                  <a:txBody>
                    <a:bodyPr/>
                    <a:lstStyle/>
                    <a:p>
                      <a:pPr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200">
                          <a:effectLst/>
                        </a:rPr>
                        <a:t>11:00 - 11:30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200">
                          <a:effectLst/>
                        </a:rPr>
                        <a:t>BREAK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1333"/>
                  </a:ext>
                </a:extLst>
              </a:tr>
              <a:tr h="600124">
                <a:tc>
                  <a:txBody>
                    <a:bodyPr/>
                    <a:lstStyle/>
                    <a:p>
                      <a:pPr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200">
                          <a:effectLst/>
                        </a:rPr>
                        <a:t>11:30 – 13.00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200">
                          <a:effectLst/>
                        </a:rPr>
                        <a:t>Workshop: </a:t>
                      </a:r>
                      <a:r>
                        <a:rPr lang="en-GB" sz="1200" kern="0">
                          <a:effectLst/>
                        </a:rPr>
                        <a:t>Explore feature selection/hyper parameter tuning.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168785"/>
                  </a:ext>
                </a:extLst>
              </a:tr>
              <a:tr h="341010">
                <a:tc>
                  <a:txBody>
                    <a:bodyPr/>
                    <a:lstStyle/>
                    <a:p>
                      <a:pPr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200">
                          <a:effectLst/>
                        </a:rPr>
                        <a:t>13:00 - 14:00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200">
                          <a:effectLst/>
                        </a:rPr>
                        <a:t>LUNCH</a:t>
                      </a:r>
                      <a:endParaRPr lang="en-GB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674306"/>
                  </a:ext>
                </a:extLst>
              </a:tr>
              <a:tr h="1668018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>
                          <a:effectLst/>
                        </a:rPr>
                        <a:t>14:00 - 15:30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  <a:p>
                      <a:pPr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200">
                          <a:effectLst/>
                        </a:rPr>
                        <a:t>Talk: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200">
                          <a:effectLst/>
                        </a:rPr>
                        <a:t>14.00-14.20: Presentation on multi-reservoir models</a:t>
                      </a:r>
                      <a:endParaRPr lang="en-GB" sz="1200" kern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kern="1200">
                          <a:effectLst/>
                        </a:rPr>
                        <a:t>Workshop:  </a:t>
                      </a:r>
                      <a:endParaRPr lang="en-GB" sz="1200" kern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0">
                          <a:effectLst/>
                        </a:rPr>
                        <a:t>14.20-15.30: ML exploration - different models, ensemble forecasting and different reservoirs</a:t>
                      </a:r>
                      <a:endParaRPr lang="en-GB" sz="1200" kern="100">
                        <a:effectLst/>
                      </a:endParaRPr>
                    </a:p>
                  </a:txBody>
                  <a:tcPr marL="35352" marR="35352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1986985"/>
                  </a:ext>
                </a:extLst>
              </a:tr>
              <a:tr h="22346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>
                          <a:effectLst/>
                        </a:rPr>
                        <a:t>15:30 - 16:00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0" kern="100">
                          <a:effectLst/>
                        </a:rPr>
                        <a:t>BREAK</a:t>
                      </a:r>
                    </a:p>
                  </a:txBody>
                  <a:tcPr marL="35352" marR="35352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79606166"/>
                  </a:ext>
                </a:extLst>
              </a:tr>
              <a:tr h="170505">
                <a:tc>
                  <a:txBody>
                    <a:bodyPr/>
                    <a:lstStyle/>
                    <a:p>
                      <a:pPr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200">
                          <a:effectLst/>
                        </a:rPr>
                        <a:t>16:00 - 16:30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0">
                          <a:effectLst/>
                        </a:rPr>
                        <a:t>Group feedback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4330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200">
                          <a:effectLst/>
                        </a:rPr>
                        <a:t>16:30 - 17:00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>
                          <a:effectLst/>
                        </a:rPr>
                        <a:t>Q/A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037282"/>
                  </a:ext>
                </a:extLst>
              </a:tr>
              <a:tr h="115807">
                <a:tc>
                  <a:txBody>
                    <a:bodyPr/>
                    <a:lstStyle/>
                    <a:p>
                      <a:pPr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200">
                          <a:effectLst/>
                        </a:rPr>
                        <a:t>18:00 - 21:00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200">
                          <a:effectLst/>
                        </a:rPr>
                        <a:t>DINNER</a:t>
                      </a:r>
                      <a:endParaRPr lang="en-GB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3614178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580D08D-A3F3-EE19-7679-8D1AAF49AF3B}"/>
              </a:ext>
            </a:extLst>
          </p:cNvPr>
          <p:cNvSpPr txBox="1"/>
          <p:nvPr/>
        </p:nvSpPr>
        <p:spPr>
          <a:xfrm>
            <a:off x="407448" y="960540"/>
            <a:ext cx="5840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>
                <a:latin typeface="Arial" panose="020B0604020202020204" pitchFamily="34" charset="0"/>
                <a:cs typeface="Arial" panose="020B0604020202020204" pitchFamily="34" charset="0"/>
              </a:rPr>
              <a:t>What today looks like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54018C-8215-6CBF-ACE3-1901FD8563F5}"/>
              </a:ext>
            </a:extLst>
          </p:cNvPr>
          <p:cNvSpPr txBox="1"/>
          <p:nvPr/>
        </p:nvSpPr>
        <p:spPr>
          <a:xfrm>
            <a:off x="407448" y="1687936"/>
            <a:ext cx="4469352" cy="4805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>
                <a:latin typeface="Arial" panose="020B0604020202020204" pitchFamily="34" charset="0"/>
                <a:cs typeface="Arial" panose="020B0604020202020204" pitchFamily="34" charset="0"/>
              </a:rPr>
              <a:t>We encourage you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Ask questions – hands up please!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Interact and engage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2000" b="1">
                <a:latin typeface="Arial" panose="020B0604020202020204" pitchFamily="34" charset="0"/>
                <a:cs typeface="Arial" panose="020B0604020202020204" pitchFamily="34" charset="0"/>
              </a:rPr>
              <a:t>We ask you not to: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Speak over others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Talk on phones during the session</a:t>
            </a:r>
          </a:p>
          <a:p>
            <a:pPr>
              <a:lnSpc>
                <a:spcPct val="150000"/>
              </a:lnSpc>
            </a:pPr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We only have a day, so please make the most of it, and enjoy it!</a:t>
            </a:r>
          </a:p>
        </p:txBody>
      </p:sp>
    </p:spTree>
    <p:extLst>
      <p:ext uri="{BB962C8B-B14F-4D97-AF65-F5344CB8AC3E}">
        <p14:creationId xmlns:p14="http://schemas.microsoft.com/office/powerpoint/2010/main" val="1184443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69F24-7FF8-0D29-81B9-9C98BF4A6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BA81BA9-073C-D713-7A92-73383B073F24}"/>
              </a:ext>
            </a:extLst>
          </p:cNvPr>
          <p:cNvSpPr txBox="1"/>
          <p:nvPr/>
        </p:nvSpPr>
        <p:spPr>
          <a:xfrm>
            <a:off x="414744" y="841498"/>
            <a:ext cx="5840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>
                <a:latin typeface="Arial" panose="020B0604020202020204" pitchFamily="34" charset="0"/>
                <a:cs typeface="Arial" panose="020B0604020202020204" pitchFamily="34" charset="0"/>
              </a:rPr>
              <a:t>Reservoirs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611798-91D7-E357-B13F-04C418684544}"/>
              </a:ext>
            </a:extLst>
          </p:cNvPr>
          <p:cNvSpPr txBox="1"/>
          <p:nvPr/>
        </p:nvSpPr>
        <p:spPr>
          <a:xfrm>
            <a:off x="4345703" y="2898839"/>
            <a:ext cx="482079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Store water </a:t>
            </a:r>
            <a:r>
              <a:rPr lang="en-GB" sz="2000" dirty="0"/>
              <a:t>for long-term use</a:t>
            </a:r>
          </a:p>
          <a:p>
            <a:endParaRPr lang="en-GB" sz="2000" dirty="0"/>
          </a:p>
          <a:p>
            <a:r>
              <a:rPr lang="en-GB" sz="2000" b="1" dirty="0"/>
              <a:t>Reduce peak flows </a:t>
            </a:r>
            <a:r>
              <a:rPr lang="en-GB" sz="2000" dirty="0"/>
              <a:t>during heavy rainfall</a:t>
            </a:r>
          </a:p>
          <a:p>
            <a:endParaRPr lang="en-GB" sz="2000" dirty="0"/>
          </a:p>
          <a:p>
            <a:r>
              <a:rPr lang="en-GB" sz="2000" b="1" dirty="0"/>
              <a:t>Energy </a:t>
            </a:r>
            <a:r>
              <a:rPr lang="en-GB" sz="2000" dirty="0"/>
              <a:t>– may require less storage as water is required to pass through turbines</a:t>
            </a:r>
          </a:p>
          <a:p>
            <a:endParaRPr lang="en-GB" sz="2000" dirty="0"/>
          </a:p>
          <a:p>
            <a:endParaRPr lang="en-GB" sz="2000" b="1" dirty="0"/>
          </a:p>
          <a:p>
            <a:r>
              <a:rPr lang="en-GB" sz="2000" b="1" dirty="0"/>
              <a:t>Compensation</a:t>
            </a:r>
            <a:r>
              <a:rPr lang="en-GB" sz="2000" dirty="0"/>
              <a:t> </a:t>
            </a:r>
            <a:r>
              <a:rPr lang="en-GB" sz="2000" b="1" dirty="0"/>
              <a:t>flows</a:t>
            </a:r>
            <a:r>
              <a:rPr lang="en-GB" sz="2000" dirty="0"/>
              <a:t>/</a:t>
            </a:r>
            <a:r>
              <a:rPr lang="en-GB" sz="2000" b="1" dirty="0"/>
              <a:t>e-flows</a:t>
            </a:r>
          </a:p>
          <a:p>
            <a:endParaRPr lang="en-GB" sz="2000" b="1" dirty="0"/>
          </a:p>
          <a:p>
            <a:r>
              <a:rPr lang="en-GB" sz="2000" b="1" dirty="0"/>
              <a:t>Leisure activities </a:t>
            </a:r>
            <a:r>
              <a:rPr lang="en-GB" sz="2000" dirty="0"/>
              <a:t>- boats, fishing, swimming.</a:t>
            </a:r>
          </a:p>
          <a:p>
            <a:endParaRPr lang="en-GB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78C7FE-D27E-EFD6-E37A-B76BE07AF537}"/>
              </a:ext>
            </a:extLst>
          </p:cNvPr>
          <p:cNvSpPr txBox="1"/>
          <p:nvPr/>
        </p:nvSpPr>
        <p:spPr>
          <a:xfrm>
            <a:off x="97800" y="2645982"/>
            <a:ext cx="3252814" cy="43704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Water supply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Irrigation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Flood control</a:t>
            </a:r>
          </a:p>
          <a:p>
            <a:pPr>
              <a:lnSpc>
                <a:spcPct val="150000"/>
              </a:lnSpc>
            </a:pPr>
            <a:endParaRPr lang="en-GB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Hydro-power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Env. Sustainability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Navigation</a:t>
            </a:r>
          </a:p>
          <a:p>
            <a:pPr>
              <a:lnSpc>
                <a:spcPct val="150000"/>
              </a:lnSpc>
            </a:pPr>
            <a:endParaRPr lang="en-GB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Recreation &amp; economy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 descr="Planning an Irrigation Reservoir">
            <a:extLst>
              <a:ext uri="{FF2B5EF4-FFF2-40B4-BE49-F238E27FC236}">
                <a16:creationId xmlns:a16="http://schemas.microsoft.com/office/drawing/2014/main" id="{B9FDD05B-564C-8305-3913-7F6FAEC29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5703" y="863159"/>
            <a:ext cx="2928414" cy="1882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Run-of-the-river hydroelectricity - Wikipedia">
            <a:extLst>
              <a:ext uri="{FF2B5EF4-FFF2-40B4-BE49-F238E27FC236}">
                <a16:creationId xmlns:a16="http://schemas.microsoft.com/office/drawing/2014/main" id="{DFCB4FDF-549C-84D0-E99D-1756B826B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5916" y="863159"/>
            <a:ext cx="2548070" cy="1893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F91A40D-88CB-7BD1-EC23-5A0E9F912849}"/>
              </a:ext>
            </a:extLst>
          </p:cNvPr>
          <p:cNvSpPr txBox="1"/>
          <p:nvPr/>
        </p:nvSpPr>
        <p:spPr>
          <a:xfrm>
            <a:off x="8255618" y="863159"/>
            <a:ext cx="18392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Chief Joseph Dam, USA.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665E72-6525-98C6-33A8-791DDA3F08FA}"/>
              </a:ext>
            </a:extLst>
          </p:cNvPr>
          <p:cNvSpPr txBox="1"/>
          <p:nvPr/>
        </p:nvSpPr>
        <p:spPr>
          <a:xfrm>
            <a:off x="363600" y="1654725"/>
            <a:ext cx="41263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>
                <a:solidFill>
                  <a:schemeClr val="tx2">
                    <a:lumMod val="50000"/>
                    <a:lumOff val="50000"/>
                  </a:schemeClr>
                </a:solidFill>
              </a:rPr>
              <a:t>What do we use reservoirs for?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DF5FDE-F9A3-613E-5C54-FC95295E08F1}"/>
              </a:ext>
            </a:extLst>
          </p:cNvPr>
          <p:cNvSpPr txBox="1"/>
          <p:nvPr/>
        </p:nvSpPr>
        <p:spPr>
          <a:xfrm>
            <a:off x="9722110" y="4226209"/>
            <a:ext cx="21524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/>
              <a:t>Multi-purpose</a:t>
            </a:r>
            <a:endParaRPr lang="en-GB" sz="1800"/>
          </a:p>
          <a:p>
            <a:endParaRPr lang="en-GB" sz="1800"/>
          </a:p>
          <a:p>
            <a:r>
              <a:rPr lang="en-GB" sz="1800" b="1"/>
              <a:t>Natural vs artificial reservoirs</a:t>
            </a:r>
            <a:endParaRPr lang="en-GB" sz="1800"/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418BFCEE-D704-D03A-65A6-34F0A0D40B66}"/>
              </a:ext>
            </a:extLst>
          </p:cNvPr>
          <p:cNvSpPr/>
          <p:nvPr/>
        </p:nvSpPr>
        <p:spPr>
          <a:xfrm flipH="1">
            <a:off x="2249371" y="3067643"/>
            <a:ext cx="1722343" cy="258118"/>
          </a:xfrm>
          <a:prstGeom prst="lef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4539509C-D605-7B7F-90C5-E4F1242EB9F7}"/>
              </a:ext>
            </a:extLst>
          </p:cNvPr>
          <p:cNvSpPr/>
          <p:nvPr/>
        </p:nvSpPr>
        <p:spPr>
          <a:xfrm flipH="1">
            <a:off x="2249370" y="3710405"/>
            <a:ext cx="1722343" cy="258118"/>
          </a:xfrm>
          <a:prstGeom prst="lef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F3D5BBE0-0096-439E-F195-C683751B2EAD}"/>
              </a:ext>
            </a:extLst>
          </p:cNvPr>
          <p:cNvSpPr/>
          <p:nvPr/>
        </p:nvSpPr>
        <p:spPr>
          <a:xfrm flipH="1">
            <a:off x="2249370" y="4357418"/>
            <a:ext cx="1722343" cy="258118"/>
          </a:xfrm>
          <a:prstGeom prst="lef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3AED27BF-B353-4AE4-D1E1-EC81AC82C107}"/>
              </a:ext>
            </a:extLst>
          </p:cNvPr>
          <p:cNvSpPr/>
          <p:nvPr/>
        </p:nvSpPr>
        <p:spPr>
          <a:xfrm flipH="1">
            <a:off x="2870791" y="5440280"/>
            <a:ext cx="1307110" cy="258118"/>
          </a:xfrm>
          <a:prstGeom prst="lef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15AF82E6-F7B2-853A-FF32-800FEEB4C826}"/>
              </a:ext>
            </a:extLst>
          </p:cNvPr>
          <p:cNvSpPr/>
          <p:nvPr/>
        </p:nvSpPr>
        <p:spPr>
          <a:xfrm flipH="1">
            <a:off x="3458131" y="6275476"/>
            <a:ext cx="719770" cy="266001"/>
          </a:xfrm>
          <a:prstGeom prst="lef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C78C0D94-6B58-D709-087B-694B285D79C7}"/>
              </a:ext>
            </a:extLst>
          </p:cNvPr>
          <p:cNvSpPr/>
          <p:nvPr/>
        </p:nvSpPr>
        <p:spPr>
          <a:xfrm>
            <a:off x="9015046" y="3329702"/>
            <a:ext cx="539262" cy="3211775"/>
          </a:xfrm>
          <a:prstGeom prst="rightBrace">
            <a:avLst>
              <a:gd name="adj1" fmla="val 8333"/>
              <a:gd name="adj2" fmla="val 44525"/>
            </a:avLst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50" name="Picture 2" descr="Boat Tour in Sri Lanka | Castlereagh Reservoir | Camellia Hills">
            <a:extLst>
              <a:ext uri="{FF2B5EF4-FFF2-40B4-BE49-F238E27FC236}">
                <a16:creationId xmlns:a16="http://schemas.microsoft.com/office/drawing/2014/main" id="{2CC0DF38-B96B-E634-2175-CA1388CB0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6484" y="863159"/>
            <a:ext cx="1967716" cy="1882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E40810-A7BA-4AFD-9B2B-5DFE93A57438}"/>
              </a:ext>
            </a:extLst>
          </p:cNvPr>
          <p:cNvSpPr txBox="1"/>
          <p:nvPr/>
        </p:nvSpPr>
        <p:spPr>
          <a:xfrm>
            <a:off x="6138903" y="816513"/>
            <a:ext cx="12343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Irrigation pond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47FD32-B5E9-E0B9-6CD6-FFC88486E3FE}"/>
              </a:ext>
            </a:extLst>
          </p:cNvPr>
          <p:cNvSpPr txBox="1"/>
          <p:nvPr/>
        </p:nvSpPr>
        <p:spPr>
          <a:xfrm>
            <a:off x="10686361" y="863159"/>
            <a:ext cx="15303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Boating in Sri Lanka</a:t>
            </a:r>
          </a:p>
        </p:txBody>
      </p:sp>
    </p:spTree>
    <p:extLst>
      <p:ext uri="{BB962C8B-B14F-4D97-AF65-F5344CB8AC3E}">
        <p14:creationId xmlns:p14="http://schemas.microsoft.com/office/powerpoint/2010/main" val="994744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2" grpId="0"/>
      <p:bldP spid="5" grpId="0"/>
      <p:bldP spid="6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4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9E7F59E-4ACB-A9D4-598E-C3BC6BD2123B}"/>
              </a:ext>
            </a:extLst>
          </p:cNvPr>
          <p:cNvSpPr txBox="1"/>
          <p:nvPr/>
        </p:nvSpPr>
        <p:spPr>
          <a:xfrm>
            <a:off x="312716" y="1030134"/>
            <a:ext cx="5840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model reservoirs?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1CA8B71-300D-1827-8533-F8A0F67589A6}"/>
              </a:ext>
            </a:extLst>
          </p:cNvPr>
          <p:cNvSpPr/>
          <p:nvPr/>
        </p:nvSpPr>
        <p:spPr>
          <a:xfrm>
            <a:off x="6573328" y="6012612"/>
            <a:ext cx="2096219" cy="30777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: Folded Corner 13">
            <a:extLst>
              <a:ext uri="{FF2B5EF4-FFF2-40B4-BE49-F238E27FC236}">
                <a16:creationId xmlns:a16="http://schemas.microsoft.com/office/drawing/2014/main" id="{C16BFEEA-014E-7528-B7F8-974D9844228F}"/>
              </a:ext>
            </a:extLst>
          </p:cNvPr>
          <p:cNvSpPr/>
          <p:nvPr/>
        </p:nvSpPr>
        <p:spPr>
          <a:xfrm>
            <a:off x="9629115" y="2111727"/>
            <a:ext cx="2203938" cy="1516811"/>
          </a:xfrm>
          <a:prstGeom prst="foldedCorne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bg1"/>
                </a:solidFill>
                <a:latin typeface="Ink Free" panose="03080402000500000000" pitchFamily="66" charset="0"/>
              </a:rPr>
              <a:t>Forecast seasonal water availability</a:t>
            </a:r>
          </a:p>
        </p:txBody>
      </p:sp>
      <p:sp>
        <p:nvSpPr>
          <p:cNvPr id="15" name="Rectangle: Folded Corner 14">
            <a:extLst>
              <a:ext uri="{FF2B5EF4-FFF2-40B4-BE49-F238E27FC236}">
                <a16:creationId xmlns:a16="http://schemas.microsoft.com/office/drawing/2014/main" id="{83C87EE9-F8F6-8F95-A9B3-2201D262CC7F}"/>
              </a:ext>
            </a:extLst>
          </p:cNvPr>
          <p:cNvSpPr/>
          <p:nvPr/>
        </p:nvSpPr>
        <p:spPr>
          <a:xfrm>
            <a:off x="720830" y="5219965"/>
            <a:ext cx="2203938" cy="1516811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bg1"/>
                </a:solidFill>
                <a:latin typeface="Ink Free" panose="03080402000500000000" pitchFamily="66" charset="0"/>
              </a:rPr>
              <a:t>Plan for droughts </a:t>
            </a:r>
          </a:p>
        </p:txBody>
      </p:sp>
      <p:sp>
        <p:nvSpPr>
          <p:cNvPr id="16" name="Rectangle: Folded Corner 15">
            <a:extLst>
              <a:ext uri="{FF2B5EF4-FFF2-40B4-BE49-F238E27FC236}">
                <a16:creationId xmlns:a16="http://schemas.microsoft.com/office/drawing/2014/main" id="{CFBDDAB2-1388-023F-1D94-52E408D61F17}"/>
              </a:ext>
            </a:extLst>
          </p:cNvPr>
          <p:cNvSpPr/>
          <p:nvPr/>
        </p:nvSpPr>
        <p:spPr>
          <a:xfrm>
            <a:off x="3892062" y="4021038"/>
            <a:ext cx="2203938" cy="1516811"/>
          </a:xfrm>
          <a:prstGeom prst="foldedCorner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bg1"/>
                </a:solidFill>
                <a:latin typeface="Ink Free" panose="03080402000500000000" pitchFamily="66" charset="0"/>
              </a:rPr>
              <a:t>Coordination of multiple uses </a:t>
            </a:r>
          </a:p>
        </p:txBody>
      </p:sp>
      <p:sp>
        <p:nvSpPr>
          <p:cNvPr id="17" name="Rectangle: Folded Corner 16">
            <a:extLst>
              <a:ext uri="{FF2B5EF4-FFF2-40B4-BE49-F238E27FC236}">
                <a16:creationId xmlns:a16="http://schemas.microsoft.com/office/drawing/2014/main" id="{0BC4687A-1236-570B-C577-ADACE32686FD}"/>
              </a:ext>
            </a:extLst>
          </p:cNvPr>
          <p:cNvSpPr/>
          <p:nvPr/>
        </p:nvSpPr>
        <p:spPr>
          <a:xfrm>
            <a:off x="7001051" y="1151159"/>
            <a:ext cx="2203938" cy="1516811"/>
          </a:xfrm>
          <a:prstGeom prst="foldedCorner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bg1"/>
                </a:solidFill>
                <a:latin typeface="Ink Free" panose="03080402000500000000" pitchFamily="66" charset="0"/>
              </a:rPr>
              <a:t>Assess future climate change impacts </a:t>
            </a:r>
          </a:p>
        </p:txBody>
      </p:sp>
      <p:sp>
        <p:nvSpPr>
          <p:cNvPr id="18" name="Rectangle: Folded Corner 17">
            <a:extLst>
              <a:ext uri="{FF2B5EF4-FFF2-40B4-BE49-F238E27FC236}">
                <a16:creationId xmlns:a16="http://schemas.microsoft.com/office/drawing/2014/main" id="{F4F0A90E-DD42-A220-7816-B9D89DBA1778}"/>
              </a:ext>
            </a:extLst>
          </p:cNvPr>
          <p:cNvSpPr/>
          <p:nvPr/>
        </p:nvSpPr>
        <p:spPr>
          <a:xfrm>
            <a:off x="1367333" y="3520385"/>
            <a:ext cx="2203938" cy="1516811"/>
          </a:xfrm>
          <a:prstGeom prst="foldedCorner">
            <a:avLst/>
          </a:prstGeom>
          <a:solidFill>
            <a:srgbClr val="FFC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bg1"/>
                </a:solidFill>
                <a:latin typeface="Ink Free" panose="03080402000500000000" pitchFamily="66" charset="0"/>
              </a:rPr>
              <a:t>Support hydropower generation </a:t>
            </a:r>
          </a:p>
        </p:txBody>
      </p:sp>
      <p:sp>
        <p:nvSpPr>
          <p:cNvPr id="19" name="Rectangle: Folded Corner 18">
            <a:extLst>
              <a:ext uri="{FF2B5EF4-FFF2-40B4-BE49-F238E27FC236}">
                <a16:creationId xmlns:a16="http://schemas.microsoft.com/office/drawing/2014/main" id="{E4A51B4C-1B6E-E487-F7CD-ADA90C8C3889}"/>
              </a:ext>
            </a:extLst>
          </p:cNvPr>
          <p:cNvSpPr/>
          <p:nvPr/>
        </p:nvSpPr>
        <p:spPr>
          <a:xfrm>
            <a:off x="6382272" y="2870133"/>
            <a:ext cx="2203938" cy="1516811"/>
          </a:xfrm>
          <a:prstGeom prst="foldedCorne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bg1"/>
                </a:solidFill>
                <a:latin typeface="Ink Free" panose="03080402000500000000" pitchFamily="66" charset="0"/>
              </a:rPr>
              <a:t>Optimize reservoir operations</a:t>
            </a:r>
          </a:p>
        </p:txBody>
      </p:sp>
      <p:sp>
        <p:nvSpPr>
          <p:cNvPr id="20" name="Rectangle: Folded Corner 19">
            <a:extLst>
              <a:ext uri="{FF2B5EF4-FFF2-40B4-BE49-F238E27FC236}">
                <a16:creationId xmlns:a16="http://schemas.microsoft.com/office/drawing/2014/main" id="{A5CAAC9B-50B9-8DBE-FC64-A5134F6B77B3}"/>
              </a:ext>
            </a:extLst>
          </p:cNvPr>
          <p:cNvSpPr/>
          <p:nvPr/>
        </p:nvSpPr>
        <p:spPr>
          <a:xfrm>
            <a:off x="3754208" y="1777473"/>
            <a:ext cx="2203938" cy="1516811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bg1"/>
                </a:solidFill>
                <a:latin typeface="Ink Free" panose="03080402000500000000" pitchFamily="66" charset="0"/>
              </a:rPr>
              <a:t>Manage flood risk </a:t>
            </a:r>
          </a:p>
        </p:txBody>
      </p:sp>
      <p:sp>
        <p:nvSpPr>
          <p:cNvPr id="21" name="Rectangle: Folded Corner 20">
            <a:extLst>
              <a:ext uri="{FF2B5EF4-FFF2-40B4-BE49-F238E27FC236}">
                <a16:creationId xmlns:a16="http://schemas.microsoft.com/office/drawing/2014/main" id="{B0D06C79-7B0F-41BF-A60A-31C8D30E1093}"/>
              </a:ext>
            </a:extLst>
          </p:cNvPr>
          <p:cNvSpPr/>
          <p:nvPr/>
        </p:nvSpPr>
        <p:spPr>
          <a:xfrm>
            <a:off x="6584889" y="5054316"/>
            <a:ext cx="2203938" cy="1516811"/>
          </a:xfrm>
          <a:prstGeom prst="foldedCorner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bg1"/>
                </a:solidFill>
                <a:latin typeface="Ink Free" panose="03080402000500000000" pitchFamily="66" charset="0"/>
              </a:rPr>
              <a:t>Support decision-making/policy </a:t>
            </a:r>
          </a:p>
        </p:txBody>
      </p:sp>
      <p:sp>
        <p:nvSpPr>
          <p:cNvPr id="22" name="Rectangle: Folded Corner 21">
            <a:extLst>
              <a:ext uri="{FF2B5EF4-FFF2-40B4-BE49-F238E27FC236}">
                <a16:creationId xmlns:a16="http://schemas.microsoft.com/office/drawing/2014/main" id="{D403008D-93E0-7B79-D9AE-D7BCC9C670F1}"/>
              </a:ext>
            </a:extLst>
          </p:cNvPr>
          <p:cNvSpPr/>
          <p:nvPr/>
        </p:nvSpPr>
        <p:spPr>
          <a:xfrm>
            <a:off x="9238898" y="4455486"/>
            <a:ext cx="2203938" cy="1516811"/>
          </a:xfrm>
          <a:prstGeom prst="foldedCorner">
            <a:avLst/>
          </a:prstGeom>
          <a:solidFill>
            <a:srgbClr val="C0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bg1"/>
                </a:solidFill>
                <a:latin typeface="Ink Free" panose="03080402000500000000" pitchFamily="66" charset="0"/>
              </a:rPr>
              <a:t>Evaluate infrastructure performance </a:t>
            </a:r>
          </a:p>
        </p:txBody>
      </p:sp>
      <p:sp>
        <p:nvSpPr>
          <p:cNvPr id="23" name="Rectangle: Folded Corner 22">
            <a:extLst>
              <a:ext uri="{FF2B5EF4-FFF2-40B4-BE49-F238E27FC236}">
                <a16:creationId xmlns:a16="http://schemas.microsoft.com/office/drawing/2014/main" id="{B7A0ECFD-D55C-F2ED-5E24-55E0EECEDD9D}"/>
              </a:ext>
            </a:extLst>
          </p:cNvPr>
          <p:cNvSpPr/>
          <p:nvPr/>
        </p:nvSpPr>
        <p:spPr>
          <a:xfrm>
            <a:off x="463001" y="1820805"/>
            <a:ext cx="2203938" cy="1516811"/>
          </a:xfrm>
          <a:prstGeom prst="foldedCorner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bg1"/>
                </a:solidFill>
                <a:latin typeface="Ink Free" panose="03080402000500000000" pitchFamily="66" charset="0"/>
              </a:rPr>
              <a:t>Protect dam safety</a:t>
            </a:r>
          </a:p>
        </p:txBody>
      </p:sp>
    </p:spTree>
    <p:extLst>
      <p:ext uri="{BB962C8B-B14F-4D97-AF65-F5344CB8AC3E}">
        <p14:creationId xmlns:p14="http://schemas.microsoft.com/office/powerpoint/2010/main" val="3776157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82362-0B1B-6830-455A-B2838E608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FAA3EB-DC82-87DD-43CA-9D9F85092AA0}"/>
              </a:ext>
            </a:extLst>
          </p:cNvPr>
          <p:cNvSpPr txBox="1"/>
          <p:nvPr/>
        </p:nvSpPr>
        <p:spPr>
          <a:xfrm>
            <a:off x="255917" y="868053"/>
            <a:ext cx="5840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>
                <a:latin typeface="Arial" panose="020B0604020202020204" pitchFamily="34" charset="0"/>
                <a:cs typeface="Arial" panose="020B0604020202020204" pitchFamily="34" charset="0"/>
              </a:rPr>
              <a:t>Reservoir models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31B7C5-D0F6-E0FD-73A8-D62AC3E43659}"/>
              </a:ext>
            </a:extLst>
          </p:cNvPr>
          <p:cNvSpPr txBox="1"/>
          <p:nvPr/>
        </p:nvSpPr>
        <p:spPr>
          <a:xfrm>
            <a:off x="248029" y="1650176"/>
            <a:ext cx="625844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>
                <a:latin typeface="Arial" panose="020B0604020202020204" pitchFamily="34" charset="0"/>
                <a:cs typeface="Arial" panose="020B0604020202020204" pitchFamily="34" charset="0"/>
              </a:rPr>
              <a:t>There are many!</a:t>
            </a:r>
          </a:p>
          <a:p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 anybody here modelled reservoirs before?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1">
              <a:solidFill>
                <a:schemeClr val="tx2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models did you use, and why?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>
              <a:solidFill>
                <a:srgbClr val="477AE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35FFA69-AB11-4F2A-6D07-F0A515F5ACA8}"/>
              </a:ext>
            </a:extLst>
          </p:cNvPr>
          <p:cNvSpPr/>
          <p:nvPr/>
        </p:nvSpPr>
        <p:spPr>
          <a:xfrm>
            <a:off x="6573328" y="6012612"/>
            <a:ext cx="2096219" cy="30777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1D109F-953D-6053-D2F8-39BC17C40D4B}"/>
              </a:ext>
            </a:extLst>
          </p:cNvPr>
          <p:cNvSpPr txBox="1"/>
          <p:nvPr/>
        </p:nvSpPr>
        <p:spPr>
          <a:xfrm>
            <a:off x="6707036" y="1619250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types of reservoir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Water balance models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inflows, outflows, storage, and losses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Simulation models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Replicate reservoir behavior over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Optimization models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best operating rules to meet objectives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Hydrologic–hydraulic coupled models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Link catchment runoff with reservoir operations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B30FAF-2FEC-4ECE-367D-0BDE6EF0342B}"/>
              </a:ext>
            </a:extLst>
          </p:cNvPr>
          <p:cNvSpPr/>
          <p:nvPr/>
        </p:nvSpPr>
        <p:spPr>
          <a:xfrm>
            <a:off x="6573328" y="1488831"/>
            <a:ext cx="5055964" cy="3970318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EDC1D-017B-39D9-6AAB-813D1FBFACD4}"/>
              </a:ext>
            </a:extLst>
          </p:cNvPr>
          <p:cNvSpPr txBox="1"/>
          <p:nvPr/>
        </p:nvSpPr>
        <p:spPr>
          <a:xfrm>
            <a:off x="429249" y="6402618"/>
            <a:ext cx="533754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/>
              <a:t>Schematic of multi-purpose reservoir curve (Wan et al., 2019)</a:t>
            </a:r>
          </a:p>
        </p:txBody>
      </p:sp>
      <p:pic>
        <p:nvPicPr>
          <p:cNvPr id="3076" name="Picture 4" descr="Revisiting Water Supply Rule Curves with Hedging Theory for Climate Change  Adaptation">
            <a:extLst>
              <a:ext uri="{FF2B5EF4-FFF2-40B4-BE49-F238E27FC236}">
                <a16:creationId xmlns:a16="http://schemas.microsoft.com/office/drawing/2014/main" id="{7EB4C62E-7F8B-EE03-3114-86923CBD4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708" y="3429001"/>
            <a:ext cx="4695082" cy="2960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8641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1AD96-ADDF-1985-6EC2-0EC3DFEED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0F4B02-50E8-CB3A-5E00-E901DF1D0487}"/>
              </a:ext>
            </a:extLst>
          </p:cNvPr>
          <p:cNvSpPr txBox="1"/>
          <p:nvPr/>
        </p:nvSpPr>
        <p:spPr>
          <a:xfrm>
            <a:off x="255917" y="974785"/>
            <a:ext cx="5840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>
                <a:latin typeface="Arial" panose="020B0604020202020204" pitchFamily="34" charset="0"/>
                <a:cs typeface="Arial" panose="020B0604020202020204" pitchFamily="34" charset="0"/>
              </a:rPr>
              <a:t>Data requirements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86000ED-760D-2DE2-D9C0-900612937EFF}"/>
              </a:ext>
            </a:extLst>
          </p:cNvPr>
          <p:cNvSpPr/>
          <p:nvPr/>
        </p:nvSpPr>
        <p:spPr>
          <a:xfrm>
            <a:off x="6573328" y="6012612"/>
            <a:ext cx="2096219" cy="30777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3EB88D-846F-741A-CACC-414799CF2C3E}"/>
              </a:ext>
            </a:extLst>
          </p:cNvPr>
          <p:cNvSpPr txBox="1"/>
          <p:nvPr/>
        </p:nvSpPr>
        <p:spPr>
          <a:xfrm>
            <a:off x="255917" y="3131215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inputs vary depending on model type, but can include: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Hydrological data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Inflows, outflows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Reservoir characteristics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>
                <a:latin typeface="Arial" panose="020B0604020202020204" pitchFamily="34" charset="0"/>
              </a:rPr>
              <a:t>Live/dead 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torage, bathymetry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Operational data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Release rules, spillway capacity, abstractions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8B7A1C-B024-8018-B10C-B7091880D7BB}"/>
              </a:ext>
            </a:extLst>
          </p:cNvPr>
          <p:cNvSpPr txBox="1"/>
          <p:nvPr/>
        </p:nvSpPr>
        <p:spPr>
          <a:xfrm>
            <a:off x="5945393" y="3654435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Demand data</a:t>
            </a:r>
            <a:endParaRPr lang="en-US" altLang="en-US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Energy, domestic</a:t>
            </a:r>
            <a:r>
              <a:rPr lang="en-US" altLang="en-US"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irrigation, industry, e-flows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Climate data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Temperature, </a:t>
            </a:r>
            <a:r>
              <a:rPr lang="en-US" altLang="en-US">
                <a:latin typeface="Arial" panose="020B0604020202020204" pitchFamily="34" charset="0"/>
              </a:rPr>
              <a:t>precipitation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evaporation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Historical records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Past storage levels, releases, extreme events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B56A7F-370D-FEF3-6033-5B2DB57C7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7035" y="974785"/>
            <a:ext cx="1882752" cy="18935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F4DBEB-753B-58AA-AADB-E2484AE8C9FE}"/>
              </a:ext>
            </a:extLst>
          </p:cNvPr>
          <p:cNvSpPr txBox="1"/>
          <p:nvPr/>
        </p:nvSpPr>
        <p:spPr>
          <a:xfrm>
            <a:off x="255917" y="1745343"/>
            <a:ext cx="67310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data might we need for a reservoir model?</a:t>
            </a:r>
          </a:p>
        </p:txBody>
      </p:sp>
    </p:spTree>
    <p:extLst>
      <p:ext uri="{BB962C8B-B14F-4D97-AF65-F5344CB8AC3E}">
        <p14:creationId xmlns:p14="http://schemas.microsoft.com/office/powerpoint/2010/main" val="3444358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DFBFB-97C2-C94E-4818-AECB36841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740169-0BA9-FDFC-1AEF-1E5A3A7BE110}"/>
              </a:ext>
            </a:extLst>
          </p:cNvPr>
          <p:cNvSpPr txBox="1"/>
          <p:nvPr/>
        </p:nvSpPr>
        <p:spPr>
          <a:xfrm>
            <a:off x="326365" y="842952"/>
            <a:ext cx="63326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>
                <a:latin typeface="Arial" panose="020B0604020202020204" pitchFamily="34" charset="0"/>
                <a:cs typeface="Arial" panose="020B0604020202020204" pitchFamily="34" charset="0"/>
              </a:rPr>
              <a:t>Reservoirs in the region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1ABBBB-B96E-3270-A1F0-A31B31FB16DB}"/>
              </a:ext>
            </a:extLst>
          </p:cNvPr>
          <p:cNvSpPr txBox="1"/>
          <p:nvPr/>
        </p:nvSpPr>
        <p:spPr>
          <a:xfrm>
            <a:off x="6492815" y="1768021"/>
            <a:ext cx="569918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Ghana</a:t>
            </a:r>
            <a:endParaRPr lang="en-GB" dirty="0"/>
          </a:p>
          <a:p>
            <a:r>
              <a:rPr lang="en-GB" dirty="0"/>
              <a:t>Key reservoirs:</a:t>
            </a:r>
          </a:p>
          <a:p>
            <a:pPr lvl="1"/>
            <a:r>
              <a:rPr lang="en-GB" b="1" dirty="0"/>
              <a:t>Akosombo (Lake Volta)</a:t>
            </a:r>
            <a:r>
              <a:rPr lang="en-GB" dirty="0"/>
              <a:t> – hydropower, water supply, fisheries</a:t>
            </a:r>
          </a:p>
          <a:p>
            <a:pPr lvl="1"/>
            <a:r>
              <a:rPr lang="en-GB" b="1" dirty="0" err="1"/>
              <a:t>Kpong</a:t>
            </a:r>
            <a:r>
              <a:rPr lang="en-GB" dirty="0"/>
              <a:t> – hydropower and water supply</a:t>
            </a:r>
          </a:p>
          <a:p>
            <a:pPr lvl="1"/>
            <a:r>
              <a:rPr lang="en-GB" b="1" dirty="0"/>
              <a:t>Bui</a:t>
            </a:r>
            <a:r>
              <a:rPr lang="en-GB" dirty="0"/>
              <a:t> – hydropower and multipurpose use</a:t>
            </a:r>
          </a:p>
          <a:p>
            <a:endParaRPr lang="en-GB" dirty="0"/>
          </a:p>
          <a:p>
            <a:r>
              <a:rPr lang="en-GB" dirty="0"/>
              <a:t>Numerous </a:t>
            </a:r>
            <a:r>
              <a:rPr lang="en-GB" b="1" dirty="0"/>
              <a:t>small and medium reservoirs</a:t>
            </a:r>
            <a:r>
              <a:rPr lang="en-GB" dirty="0"/>
              <a:t> for irrigation and rural water supply</a:t>
            </a:r>
          </a:p>
          <a:p>
            <a:endParaRPr lang="en-GB" dirty="0"/>
          </a:p>
          <a:p>
            <a:r>
              <a:rPr lang="en-GB" b="1" dirty="0"/>
              <a:t>Challenges to management:</a:t>
            </a:r>
          </a:p>
          <a:p>
            <a:pPr lvl="1"/>
            <a:r>
              <a:rPr lang="en-GB" dirty="0">
                <a:solidFill>
                  <a:srgbClr val="477AE2"/>
                </a:solidFill>
              </a:rPr>
              <a:t>Climate variability</a:t>
            </a:r>
          </a:p>
          <a:p>
            <a:pPr lvl="1"/>
            <a:r>
              <a:rPr lang="en-GB" dirty="0">
                <a:solidFill>
                  <a:srgbClr val="477AE2"/>
                </a:solidFill>
              </a:rPr>
              <a:t>Sedimentation</a:t>
            </a:r>
          </a:p>
          <a:p>
            <a:pPr lvl="1"/>
            <a:r>
              <a:rPr lang="en-GB" dirty="0">
                <a:solidFill>
                  <a:srgbClr val="477AE2"/>
                </a:solidFill>
              </a:rPr>
              <a:t>Competing water demands</a:t>
            </a:r>
          </a:p>
          <a:p>
            <a:endParaRPr lang="en-GB" b="1" dirty="0"/>
          </a:p>
          <a:p>
            <a:endParaRPr lang="en-GB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DBA906D-32FD-E050-CCA1-3A17E9A77EC7}"/>
              </a:ext>
            </a:extLst>
          </p:cNvPr>
          <p:cNvSpPr/>
          <p:nvPr/>
        </p:nvSpPr>
        <p:spPr>
          <a:xfrm>
            <a:off x="6573328" y="6012612"/>
            <a:ext cx="2096219" cy="30777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0E4609-1220-9AFA-44C1-6EAE5B467A4E}"/>
              </a:ext>
            </a:extLst>
          </p:cNvPr>
          <p:cNvSpPr txBox="1"/>
          <p:nvPr/>
        </p:nvSpPr>
        <p:spPr>
          <a:xfrm>
            <a:off x="6423227" y="1762816"/>
            <a:ext cx="609420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West Africa</a:t>
            </a:r>
            <a:endParaRPr lang="en-GB" dirty="0"/>
          </a:p>
          <a:p>
            <a:r>
              <a:rPr lang="en-GB" dirty="0"/>
              <a:t>Major river basins:</a:t>
            </a:r>
          </a:p>
          <a:p>
            <a:pPr lvl="1"/>
            <a:r>
              <a:rPr lang="en-GB" dirty="0"/>
              <a:t>Volta, Niger, Senegal, Gambia</a:t>
            </a:r>
          </a:p>
          <a:p>
            <a:endParaRPr lang="en-GB" dirty="0"/>
          </a:p>
          <a:p>
            <a:r>
              <a:rPr lang="en-GB" dirty="0"/>
              <a:t>Reservoir purposes:</a:t>
            </a:r>
          </a:p>
          <a:p>
            <a:pPr lvl="1"/>
            <a:r>
              <a:rPr lang="en-GB" dirty="0"/>
              <a:t>Hydropower, irrigation, flood control</a:t>
            </a:r>
          </a:p>
          <a:p>
            <a:endParaRPr lang="en-GB" dirty="0"/>
          </a:p>
          <a:p>
            <a:r>
              <a:rPr lang="en-GB" b="1" dirty="0"/>
              <a:t>Regional challenges:</a:t>
            </a:r>
          </a:p>
          <a:p>
            <a:pPr lvl="1"/>
            <a:r>
              <a:rPr lang="en-GB" dirty="0">
                <a:solidFill>
                  <a:srgbClr val="477AE2"/>
                </a:solidFill>
              </a:rPr>
              <a:t>High rainfall variability</a:t>
            </a:r>
          </a:p>
          <a:p>
            <a:pPr lvl="1"/>
            <a:r>
              <a:rPr lang="en-GB" dirty="0">
                <a:solidFill>
                  <a:srgbClr val="477AE2"/>
                </a:solidFill>
              </a:rPr>
              <a:t>Transboundary water management</a:t>
            </a:r>
          </a:p>
          <a:p>
            <a:pPr lvl="1"/>
            <a:r>
              <a:rPr lang="en-GB" dirty="0">
                <a:solidFill>
                  <a:srgbClr val="477AE2"/>
                </a:solidFill>
              </a:rPr>
              <a:t>Data limitations</a:t>
            </a:r>
          </a:p>
          <a:p>
            <a:endParaRPr lang="en-GB" dirty="0">
              <a:solidFill>
                <a:srgbClr val="477AE2"/>
              </a:solidFill>
            </a:endParaRPr>
          </a:p>
          <a:p>
            <a:r>
              <a:rPr lang="en-GB" dirty="0">
                <a:solidFill>
                  <a:srgbClr val="477AE2"/>
                </a:solidFill>
              </a:rPr>
              <a:t>Increasing need for </a:t>
            </a:r>
            <a:r>
              <a:rPr lang="en-GB" b="1" dirty="0">
                <a:solidFill>
                  <a:srgbClr val="477AE2"/>
                </a:solidFill>
              </a:rPr>
              <a:t>reservoir modelling</a:t>
            </a:r>
            <a:r>
              <a:rPr lang="en-GB" dirty="0">
                <a:solidFill>
                  <a:srgbClr val="477AE2"/>
                </a:solidFill>
              </a:rPr>
              <a:t> to support sustainable water management</a:t>
            </a:r>
          </a:p>
        </p:txBody>
      </p:sp>
      <p:pic>
        <p:nvPicPr>
          <p:cNvPr id="1028" name="Picture 4" descr="The West African domain highlighting the different major river basins. |  Download Scientific Diagram">
            <a:extLst>
              <a:ext uri="{FF2B5EF4-FFF2-40B4-BE49-F238E27FC236}">
                <a16:creationId xmlns:a16="http://schemas.microsoft.com/office/drawing/2014/main" id="{E8A3F1BF-F319-19A6-B066-CD5339D55A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6" b="2781"/>
          <a:stretch/>
        </p:blipFill>
        <p:spPr bwMode="auto">
          <a:xfrm>
            <a:off x="188794" y="1980578"/>
            <a:ext cx="5966965" cy="3231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A45A0C-A61B-6275-25CE-076BE17F036D}"/>
              </a:ext>
            </a:extLst>
          </p:cNvPr>
          <p:cNvSpPr txBox="1"/>
          <p:nvPr/>
        </p:nvSpPr>
        <p:spPr>
          <a:xfrm>
            <a:off x="4510397" y="1980578"/>
            <a:ext cx="177460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/>
              <a:t>Sylla et al. 2018</a:t>
            </a:r>
          </a:p>
        </p:txBody>
      </p:sp>
    </p:spTree>
    <p:extLst>
      <p:ext uri="{BB962C8B-B14F-4D97-AF65-F5344CB8AC3E}">
        <p14:creationId xmlns:p14="http://schemas.microsoft.com/office/powerpoint/2010/main" val="2965053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3F808-DAC2-8CCA-919B-08F52A4B8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6" descr="Output image">
            <a:extLst>
              <a:ext uri="{FF2B5EF4-FFF2-40B4-BE49-F238E27FC236}">
                <a16:creationId xmlns:a16="http://schemas.microsoft.com/office/drawing/2014/main" id="{7BCCF93F-8FBE-91A6-BCC8-54050A9EE1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DCD1B0-523C-E782-970A-FD56107DFA70}"/>
              </a:ext>
            </a:extLst>
          </p:cNvPr>
          <p:cNvSpPr txBox="1"/>
          <p:nvPr/>
        </p:nvSpPr>
        <p:spPr>
          <a:xfrm>
            <a:off x="257908" y="981754"/>
            <a:ext cx="53358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/>
              <a:t>Higher or lower…?!</a:t>
            </a:r>
            <a:endParaRPr lang="en-GB" sz="2800"/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C19BD31E-F35F-03A7-5D30-0B141E7448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9897419"/>
              </p:ext>
            </p:extLst>
          </p:nvPr>
        </p:nvGraphicFramePr>
        <p:xfrm>
          <a:off x="5441795" y="1351085"/>
          <a:ext cx="6238461" cy="3611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6900015-A8E9-E7DD-5053-F0F6AF984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69" y="1917097"/>
            <a:ext cx="5040923" cy="2796732"/>
          </a:xfrm>
        </p:spPr>
        <p:txBody>
          <a:bodyPr>
            <a:normAutofit fontScale="92500" lnSpcReduction="20000"/>
          </a:bodyPr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Ghana has a number of large and significant reservoirs, but how much water do they hold relative to other countries?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/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477AE2"/>
                </a:solidFill>
              </a:rPr>
              <a:t>A show of hands/call out for higher or lower…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solidFill>
                <a:srgbClr val="477AE2"/>
              </a:solidFill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solidFill>
                <a:srgbClr val="477AE2"/>
              </a:solidFill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solidFill>
                <a:srgbClr val="477AE2"/>
              </a:solidFill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solidFill>
                <a:srgbClr val="477AE2"/>
              </a:solidFill>
            </a:endParaRPr>
          </a:p>
          <a:p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66325-2F11-8E11-8878-A3723B15973F}"/>
              </a:ext>
            </a:extLst>
          </p:cNvPr>
          <p:cNvSpPr txBox="1"/>
          <p:nvPr/>
        </p:nvSpPr>
        <p:spPr>
          <a:xfrm>
            <a:off x="1" y="5374415"/>
            <a:ext cx="11680256" cy="95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West Africa has seen a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continuing increase in dam/reservoir construction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in recent decades, as has Africa as a whole, particularly for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hydropower and multipurpose reservoirs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sz="2000" dirty="0">
              <a:solidFill>
                <a:srgbClr val="477AE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Labrador &amp; Spaniel Playing Cards | Simon Lucas Bridge Supplies">
            <a:extLst>
              <a:ext uri="{FF2B5EF4-FFF2-40B4-BE49-F238E27FC236}">
                <a16:creationId xmlns:a16="http://schemas.microsoft.com/office/drawing/2014/main" id="{4EFBA77A-8F91-86FD-35FA-DFFC48DB6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167" y="789400"/>
            <a:ext cx="1180214" cy="1180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6472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5" grpId="0">
        <p:bldSub>
          <a:bldChart bld="category" animBg="0"/>
        </p:bldSub>
      </p:bldGraphic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5BAB3-1D86-AD1C-FC56-4D2FE8D15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2E92DE-A159-D493-5C3A-A1D970221AAC}"/>
              </a:ext>
            </a:extLst>
          </p:cNvPr>
          <p:cNvSpPr txBox="1"/>
          <p:nvPr/>
        </p:nvSpPr>
        <p:spPr>
          <a:xfrm>
            <a:off x="255917" y="868053"/>
            <a:ext cx="7094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>
                <a:latin typeface="Arial" panose="020B0604020202020204" pitchFamily="34" charset="0"/>
                <a:cs typeface="Arial" panose="020B0604020202020204" pitchFamily="34" charset="0"/>
              </a:rPr>
              <a:t>Why machine learning and reservoirs?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BBBB6B-488A-8C08-210E-4969F17BAA5E}"/>
              </a:ext>
            </a:extLst>
          </p:cNvPr>
          <p:cNvSpPr txBox="1"/>
          <p:nvPr/>
        </p:nvSpPr>
        <p:spPr>
          <a:xfrm>
            <a:off x="381683" y="1541949"/>
            <a:ext cx="6842919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Reservoirs are an integral part of the hydrological cycle,  providing water to millions of people for various uses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Knowing how water bodies respond to natural and anthropogenic influence is therefore extremely relevant, and important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ML is a rapidly growing area of hydrological science, now made possible by increasing data availability and system processing power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Reservoir operational data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are often not available, and conventional modelling methods struggle to replicate operations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ML approaches can be powerful learning tools, establishing key behaviours, and are often transferable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solidFill>
                <a:srgbClr val="477AE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22" name="Picture 2" descr="Machine Learning vs. AI: What Is the Difference? - Caltech Science Exchange">
            <a:extLst>
              <a:ext uri="{FF2B5EF4-FFF2-40B4-BE49-F238E27FC236}">
                <a16:creationId xmlns:a16="http://schemas.microsoft.com/office/drawing/2014/main" id="{32BA2529-962A-015A-4431-A23ADCE9D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168" y="1129663"/>
            <a:ext cx="4095582" cy="2304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Lakes and Reservoirs - overview">
            <a:extLst>
              <a:ext uri="{FF2B5EF4-FFF2-40B4-BE49-F238E27FC236}">
                <a16:creationId xmlns:a16="http://schemas.microsoft.com/office/drawing/2014/main" id="{4FDE2272-3840-5419-3FCD-FF588CA5F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168" y="3268892"/>
            <a:ext cx="4095582" cy="2743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6099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7F6AC-77A3-1925-FAE8-AD494D60F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2F37F5-15A5-75EA-1F0C-98EEA579C58E}"/>
              </a:ext>
            </a:extLst>
          </p:cNvPr>
          <p:cNvSpPr txBox="1"/>
          <p:nvPr/>
        </p:nvSpPr>
        <p:spPr>
          <a:xfrm>
            <a:off x="255917" y="868053"/>
            <a:ext cx="7094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>
                <a:latin typeface="Arial" panose="020B0604020202020204" pitchFamily="34" charset="0"/>
                <a:cs typeface="Arial" panose="020B0604020202020204" pitchFamily="34" charset="0"/>
              </a:rPr>
              <a:t>A note on today's session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BA6436-5E6C-594C-456C-9E8D3D3AA385}"/>
              </a:ext>
            </a:extLst>
          </p:cNvPr>
          <p:cNvSpPr txBox="1"/>
          <p:nvPr/>
        </p:nvSpPr>
        <p:spPr>
          <a:xfrm>
            <a:off x="381683" y="1883471"/>
            <a:ext cx="684291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Using data from S. Africa &amp; Spain to train a reservoir forecasting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Re: W. Africa, we have 10 years of reservoir data kindly provided by Dr </a:t>
            </a:r>
            <a:r>
              <a:rPr lang="en-GB" sz="2000" err="1">
                <a:latin typeface="Arial" panose="020B0604020202020204" pitchFamily="34" charset="0"/>
                <a:cs typeface="Arial" panose="020B0604020202020204" pitchFamily="34" charset="0"/>
              </a:rPr>
              <a:t>Obuobie</a:t>
            </a: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 from WRI of the CSIR for the Akosombo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If others would like to collaborate to explore the potential to </a:t>
            </a:r>
            <a:r>
              <a:rPr lang="en-GB" sz="2000" b="1">
                <a:latin typeface="Arial" panose="020B0604020202020204" pitchFamily="34" charset="0"/>
                <a:cs typeface="Arial" panose="020B0604020202020204" pitchFamily="34" charset="0"/>
              </a:rPr>
              <a:t>build a regional reservoir forecasting model for W. Africa, </a:t>
            </a: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then please let us know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>
              <a:solidFill>
                <a:srgbClr val="477AE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7" name="Picture 3" descr="Collaboration: The Missing Standard - AMLE">
            <a:extLst>
              <a:ext uri="{FF2B5EF4-FFF2-40B4-BE49-F238E27FC236}">
                <a16:creationId xmlns:a16="http://schemas.microsoft.com/office/drawing/2014/main" id="{3BB483F4-F62A-2CE2-A649-C0F33B208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178" y="1883471"/>
            <a:ext cx="3726853" cy="2281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8EE0A2-F47C-F53F-6B7B-ECD98AA77D42}"/>
              </a:ext>
            </a:extLst>
          </p:cNvPr>
          <p:cNvSpPr txBox="1"/>
          <p:nvPr/>
        </p:nvSpPr>
        <p:spPr>
          <a:xfrm>
            <a:off x="11243464" y="3918997"/>
            <a:ext cx="5668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AMLE</a:t>
            </a:r>
          </a:p>
        </p:txBody>
      </p:sp>
    </p:spTree>
    <p:extLst>
      <p:ext uri="{BB962C8B-B14F-4D97-AF65-F5344CB8AC3E}">
        <p14:creationId xmlns:p14="http://schemas.microsoft.com/office/powerpoint/2010/main" val="182730704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2CFA42-89E5-4E7E-783B-0C3313076329}"/>
              </a:ext>
            </a:extLst>
          </p:cNvPr>
          <p:cNvSpPr txBox="1"/>
          <p:nvPr/>
        </p:nvSpPr>
        <p:spPr>
          <a:xfrm>
            <a:off x="327856" y="929978"/>
            <a:ext cx="3726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>
                <a:solidFill>
                  <a:srgbClr val="477AE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activity (10 mins)</a:t>
            </a:r>
            <a:endParaRPr lang="en-GB" b="1">
              <a:solidFill>
                <a:srgbClr val="477AE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56392F-6F1E-B320-D353-49DBCE7AAA34}"/>
              </a:ext>
            </a:extLst>
          </p:cNvPr>
          <p:cNvSpPr txBox="1"/>
          <p:nvPr/>
        </p:nvSpPr>
        <p:spPr>
          <a:xfrm>
            <a:off x="364542" y="1330088"/>
            <a:ext cx="92850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>
                <a:latin typeface="Arial" panose="020B0604020202020204" pitchFamily="34" charset="0"/>
                <a:cs typeface="Arial" panose="020B0604020202020204" pitchFamily="34" charset="0"/>
              </a:rPr>
              <a:t>Use the sticky notes to tell us: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25C9491-FBA6-5FB5-DCFF-F31706F2B0A8}"/>
              </a:ext>
            </a:extLst>
          </p:cNvPr>
          <p:cNvSpPr/>
          <p:nvPr/>
        </p:nvSpPr>
        <p:spPr>
          <a:xfrm>
            <a:off x="1511518" y="2262454"/>
            <a:ext cx="4308438" cy="2998035"/>
          </a:xfrm>
          <a:prstGeom prst="roundRect">
            <a:avLst>
              <a:gd name="adj" fmla="val 6454"/>
            </a:avLst>
          </a:prstGeom>
          <a:solidFill>
            <a:srgbClr val="D6EAE6"/>
          </a:solidFill>
          <a:ln>
            <a:solidFill>
              <a:srgbClr val="D6EA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models you’ve used previously, and for what purpose</a:t>
            </a:r>
            <a:endParaRPr lang="en-GB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25A8C0A-266C-B62D-4E4E-DDE9353C078F}"/>
              </a:ext>
            </a:extLst>
          </p:cNvPr>
          <p:cNvSpPr/>
          <p:nvPr/>
        </p:nvSpPr>
        <p:spPr>
          <a:xfrm>
            <a:off x="6293224" y="2262454"/>
            <a:ext cx="4387259" cy="2998035"/>
          </a:xfrm>
          <a:prstGeom prst="roundRect">
            <a:avLst>
              <a:gd name="adj" fmla="val 6454"/>
            </a:avLst>
          </a:prstGeom>
          <a:solidFill>
            <a:srgbClr val="D7B7AA"/>
          </a:solidFill>
          <a:ln>
            <a:solidFill>
              <a:srgbClr val="D7B7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interests in machine learning – can be hydrology or otherwise</a:t>
            </a:r>
            <a:endParaRPr lang="en-GB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939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D7A46-BB56-6259-5BFE-93ADD6404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08A7425-D2A0-0AE0-1488-4ACFFAF5809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EB31F0-6FA9-4685-4745-4A96D1F0B4E7}"/>
              </a:ext>
            </a:extLst>
          </p:cNvPr>
          <p:cNvSpPr txBox="1"/>
          <p:nvPr/>
        </p:nvSpPr>
        <p:spPr>
          <a:xfrm>
            <a:off x="759123" y="502741"/>
            <a:ext cx="30636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4B1E12-4969-CD55-97CD-A9673E8B83D9}"/>
              </a:ext>
            </a:extLst>
          </p:cNvPr>
          <p:cNvSpPr txBox="1"/>
          <p:nvPr/>
        </p:nvSpPr>
        <p:spPr>
          <a:xfrm>
            <a:off x="948904" y="1644288"/>
            <a:ext cx="4093857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>
                <a:solidFill>
                  <a:srgbClr val="DBF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more information</a:t>
            </a:r>
          </a:p>
          <a:p>
            <a:r>
              <a:rPr lang="en-GB" sz="2000">
                <a:solidFill>
                  <a:srgbClr val="DBF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contact:</a:t>
            </a:r>
          </a:p>
          <a:p>
            <a:endParaRPr lang="en-GB" sz="200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200">
                <a:solidFill>
                  <a:srgbClr val="D6EAE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[EMAIL US]</a:t>
            </a:r>
          </a:p>
          <a:p>
            <a:r>
              <a:rPr lang="en-GB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natric@ceh.ac.uk</a:t>
            </a:r>
            <a:endParaRPr lang="en-GB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heron@ceh.ac.uk</a:t>
            </a:r>
            <a:endParaRPr lang="en-GB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200">
                <a:solidFill>
                  <a:srgbClr val="D6EAE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[LEARN MORE]</a:t>
            </a:r>
          </a:p>
          <a:p>
            <a:r>
              <a:rPr lang="en-GB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ceh.ac.uk</a:t>
            </a:r>
          </a:p>
          <a:p>
            <a:endParaRPr lang="en-GB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200">
                <a:solidFill>
                  <a:srgbClr val="D6EAE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[FOLLOW US]</a:t>
            </a:r>
          </a:p>
          <a:p>
            <a:r>
              <a:rPr lang="en-GB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@uk_ceh</a:t>
            </a:r>
          </a:p>
          <a:p>
            <a:endParaRPr lang="en-GB" sz="2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F9214BE-2205-F9F9-B73D-68500BE031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904" y="5524262"/>
            <a:ext cx="2191109" cy="758932"/>
          </a:xfrm>
          <a:prstGeom prst="rect">
            <a:avLst/>
          </a:prstGeom>
        </p:spPr>
      </p:pic>
      <p:pic>
        <p:nvPicPr>
          <p:cNvPr id="6" name="Picture 5" descr="A black and white image of a flower&#10;&#10;AI-generated content may be incorrect.">
            <a:extLst>
              <a:ext uri="{FF2B5EF4-FFF2-40B4-BE49-F238E27FC236}">
                <a16:creationId xmlns:a16="http://schemas.microsoft.com/office/drawing/2014/main" id="{813F8E79-061A-2C77-31FB-EAE7FD8ECCD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566" r="21202"/>
          <a:stretch/>
        </p:blipFill>
        <p:spPr>
          <a:xfrm>
            <a:off x="5042761" y="0"/>
            <a:ext cx="7616796" cy="688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06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237F9DEC21C3409963BBCED1B1D708" ma:contentTypeVersion="12" ma:contentTypeDescription="Create a new document." ma:contentTypeScope="" ma:versionID="97581c39be7ccbae3c7985acd9ff0643">
  <xsd:schema xmlns:xsd="http://www.w3.org/2001/XMLSchema" xmlns:xs="http://www.w3.org/2001/XMLSchema" xmlns:p="http://schemas.microsoft.com/office/2006/metadata/properties" xmlns:ns2="64c174c2-07d0-4380-a1ee-3531d739a9d5" xmlns:ns3="a3da675f-a1db-487b-89b2-b8976031afde" targetNamespace="http://schemas.microsoft.com/office/2006/metadata/properties" ma:root="true" ma:fieldsID="0fa405519adfe686adac846996ad5894" ns2:_="" ns3:_="">
    <xsd:import namespace="64c174c2-07d0-4380-a1ee-3531d739a9d5"/>
    <xsd:import namespace="a3da675f-a1db-487b-89b2-b8976031af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c174c2-07d0-4380-a1ee-3531d739a9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3ea2160-29c6-45a3-9bc6-8bc28cb089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da675f-a1db-487b-89b2-b8976031afd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c174c2-07d0-4380-a1ee-3531d739a9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A5E246A-831B-40FD-BC9F-40562B906B92}">
  <ds:schemaRefs>
    <ds:schemaRef ds:uri="64c174c2-07d0-4380-a1ee-3531d739a9d5"/>
    <ds:schemaRef ds:uri="a3da675f-a1db-487b-89b2-b8976031afd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09F938A-2F83-4A83-A512-7C2DFD371F8F}">
  <ds:schemaRefs>
    <ds:schemaRef ds:uri="64c174c2-07d0-4380-a1ee-3531d739a9d5"/>
    <ds:schemaRef ds:uri="a3da675f-a1db-487b-89b2-b8976031afd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A7CDB85-E624-493E-97F5-47EF0601F0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1626</TotalTime>
  <Words>1006</Words>
  <Application>Microsoft Office PowerPoint</Application>
  <PresentationFormat>Widescreen</PresentationFormat>
  <Paragraphs>231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Ink Free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Jennifer Kelly</dc:creator>
  <cp:lastModifiedBy>Helen Baron</cp:lastModifiedBy>
  <cp:revision>3</cp:revision>
  <dcterms:created xsi:type="dcterms:W3CDTF">2025-10-31T18:03:10Z</dcterms:created>
  <dcterms:modified xsi:type="dcterms:W3CDTF">2026-02-05T09:20:43Z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0x01010067237F9DEC21C3409963BBCED1B1D708</vt:lpwstr>
  </property>
</Properties>
</file>